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9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08C1344-8D1D-ECE7-18C9-CBF273C7401E}">
          <p14:sldIdLst>
            <p14:sldId id="256"/>
            <p14:sldId id="257"/>
          </p14:sldIdLst>
        </p14:section>
        <p14:section name="Câncer de Mama" id="{BC6849CF-BA82-9853-F095-3BDD843D2CAE}">
          <p14:sldIdLst>
            <p14:sldId id="258"/>
            <p14:sldId id="259"/>
            <p14:sldId id="260"/>
            <p14:sldId id="261"/>
          </p14:sldIdLst>
        </p14:section>
        <p14:section name="Câncer de Colo Uterino" id="{F32A508B-77BA-EA40-0A16-C7DF8973EEEE}">
          <p14:sldIdLst>
            <p14:sldId id="262"/>
            <p14:sldId id="263"/>
            <p14:sldId id="268"/>
          </p14:sldIdLst>
        </p14:section>
        <p14:section name="Câncer Colorretal" id="{071EA4EB-34DA-4DC6-7C63-81DC2118E8F9}">
          <p14:sldIdLst>
            <p14:sldId id="264"/>
            <p14:sldId id="265"/>
            <p14:sldId id="269"/>
          </p14:sldIdLst>
        </p14:section>
        <p14:section name="Prevenção" id="{68FD3844-04E3-93B9-2E8A-84D2A58F7AA7}">
          <p14:sldIdLst>
            <p14:sldId id="266"/>
          </p14:sldIdLst>
        </p14:section>
        <p14:section name="Encerramento" id="{01417B8E-0126-795E-A55F-05941A162D3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1" autoAdjust="0"/>
  </p:normalViewPr>
  <p:slideViewPr>
    <p:cSldViewPr snapToGrid="0" snapToObjects="1">
      <p:cViewPr varScale="1">
        <p:scale>
          <a:sx n="100" d="100"/>
          <a:sy n="100" d="100"/>
        </p:scale>
        <p:origin x="9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1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4C0DD-7A3E-3ABC-8A28-8272A2923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2DA77-EAB5-B267-E200-688CE7976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82EBC-E6DA-91DA-0DEE-64E691459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CFCB1-36B1-0D44-E38E-0FCA184753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655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FEB82-BBC1-F307-E4BF-5942A72ED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DDFE4-2302-3ACB-DB54-383938F60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7BD37E-E2F7-B141-D764-65E640523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78092-0538-81AB-3E8F-EC8605BB9D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12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Mensagem principal: a prevenção salva vidas. Câncer de mama, colo uterino e colorretal podem ser detectados precocemente ou evitados com rastreamento e hábitos saudáveis. Convidar o público a manter os exames em dia e conversar com o médico. Agradecer e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5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BBBBB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BBBBB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3657600" cy="3657600"/>
          </a:xfrm>
          <a:prstGeom prst="ellipse">
            <a:avLst/>
          </a:prstGeom>
          <a:solidFill>
            <a:srgbClr val="7B20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097280" y="3474720"/>
            <a:ext cx="2743200" cy="2743200"/>
          </a:xfrm>
          <a:prstGeom prst="ellipse">
            <a:avLst/>
          </a:prstGeom>
          <a:solidFill>
            <a:srgbClr val="7B20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498080" y="3474720"/>
            <a:ext cx="2286000" cy="2286000"/>
          </a:xfrm>
          <a:prstGeom prst="ellipse">
            <a:avLst/>
          </a:prstGeom>
          <a:solidFill>
            <a:srgbClr val="6B1A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40080" y="914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OUTUBRO ROSA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7B2C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2026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7B2C4"/>
                </a:solidFill>
              </a:rPr>
              <a:t>Prevenção e Detecção Precoce do Câncer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Dra. Ana Carolina Montes Ribeiro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B2C4"/>
                </a:solidFill>
              </a:rPr>
              <a:t>Médica Ginecologista e </a:t>
            </a:r>
            <a:r>
              <a:rPr lang="en-US" sz="1400" dirty="0" err="1">
                <a:solidFill>
                  <a:srgbClr val="F7B2C4"/>
                </a:solidFill>
              </a:rPr>
              <a:t>Obstetra</a:t>
            </a:r>
            <a:endParaRPr lang="en-US" sz="1400" dirty="0">
              <a:solidFill>
                <a:srgbClr val="F7B2C4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7B2C4"/>
                </a:solidFill>
              </a:rPr>
              <a:t>CRM-DF 29445 | RQE 24.639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2D3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 Que Vamos Conversar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1005840"/>
          </a:xfrm>
          <a:prstGeom prst="roundRect">
            <a:avLst>
              <a:gd name="adj" fmla="val 13636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60120" y="1371600"/>
            <a:ext cx="640080" cy="640080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601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29844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2D3F"/>
                </a:solidFill>
              </a:rPr>
              <a:t>Câncer de Mama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70078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</a:rPr>
              <a:t>Impacto no mundo e no Brasil, fatores de risco, rastreamento e sinais de alerta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7863840" cy="1005840"/>
          </a:xfrm>
          <a:prstGeom prst="roundRect">
            <a:avLst>
              <a:gd name="adj" fmla="val 13636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960120" y="2560320"/>
            <a:ext cx="640080" cy="640080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9601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248716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2D3F"/>
                </a:solidFill>
              </a:rPr>
              <a:t>Câncer de Colo Uterino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88950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</a:rPr>
              <a:t>O papel do HPV, vacinação e exame preventivo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7863840" cy="1005840"/>
          </a:xfrm>
          <a:prstGeom prst="roundRect">
            <a:avLst>
              <a:gd name="adj" fmla="val 13636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960120" y="3749040"/>
            <a:ext cx="640080" cy="640080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96012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367588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2D3F"/>
                </a:solidFill>
              </a:rPr>
              <a:t>Câncer Colorretal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407822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</a:rPr>
              <a:t>Quando investigar, fatores de risco e rastreamento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BBBBB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2D3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Câncer de Mama: 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2D2D3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 Impacto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20373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</a:rPr>
              <a:t>O câncer mais comum entre mulheres no mundo e no Brasil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23060"/>
            <a:ext cx="1828800" cy="2377440"/>
          </a:xfrm>
          <a:prstGeom prst="roundRect">
            <a:avLst>
              <a:gd name="adj" fmla="val 7500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B2040"/>
                </a:solidFill>
              </a:rPr>
              <a:t>2,4 mi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5482" y="2908495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3F"/>
                </a:solidFill>
              </a:rPr>
              <a:t>novos casos por ano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2D3F"/>
                </a:solidFill>
              </a:rPr>
              <a:t>no mundo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88920" y="1623060"/>
            <a:ext cx="1828800" cy="2377440"/>
          </a:xfrm>
          <a:prstGeom prst="roundRect">
            <a:avLst>
              <a:gd name="adj" fmla="val 7500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2743200" y="20978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B2040"/>
                </a:solidFill>
              </a:rPr>
              <a:t>693 mil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806505" y="2908495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2D2D3F"/>
                </a:solidFill>
              </a:rPr>
              <a:t>Óbitos</a:t>
            </a:r>
            <a:r>
              <a:rPr lang="en-US" sz="1200" dirty="0">
                <a:solidFill>
                  <a:srgbClr val="2D2D3F"/>
                </a:solidFill>
              </a:rPr>
              <a:t> </a:t>
            </a:r>
            <a:r>
              <a:rPr lang="en-US" sz="1200" dirty="0" err="1">
                <a:solidFill>
                  <a:srgbClr val="2D2D3F"/>
                </a:solidFill>
              </a:rPr>
              <a:t>por</a:t>
            </a:r>
            <a:r>
              <a:rPr lang="en-US" sz="1200" dirty="0">
                <a:solidFill>
                  <a:srgbClr val="2D2D3F"/>
                </a:solidFill>
              </a:rPr>
              <a:t> </a:t>
            </a:r>
            <a:r>
              <a:rPr lang="en-US" sz="1200" dirty="0" err="1">
                <a:solidFill>
                  <a:srgbClr val="2D2D3F"/>
                </a:solidFill>
              </a:rPr>
              <a:t>câncer</a:t>
            </a:r>
            <a:r>
              <a:rPr lang="en-US" sz="1200" dirty="0">
                <a:solidFill>
                  <a:srgbClr val="2D2D3F"/>
                </a:solidFill>
              </a:rPr>
              <a:t> de mama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348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chemeClr val="bg1">
                    <a:lumMod val="65000"/>
                  </a:schemeClr>
                </a:solidFill>
              </a:rPr>
              <a:t>Fonte: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Global status </a:t>
            </a:r>
            <a:r>
              <a:rPr lang="pt-BR" sz="900" b="1" dirty="0" err="1">
                <a:solidFill>
                  <a:schemeClr val="bg1">
                    <a:lumMod val="65000"/>
                  </a:schemeClr>
                </a:solidFill>
              </a:rPr>
              <a:t>report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BR" sz="900" b="1" dirty="0" err="1">
                <a:solidFill>
                  <a:schemeClr val="bg1">
                    <a:lumMod val="65000"/>
                  </a:schemeClr>
                </a:solidFill>
              </a:rPr>
              <a:t>on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BR" sz="900" b="1" dirty="0" err="1">
                <a:solidFill>
                  <a:schemeClr val="bg1">
                    <a:lumMod val="65000"/>
                  </a:schemeClr>
                </a:solidFill>
              </a:rPr>
              <a:t>cancer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 2026: </a:t>
            </a:r>
            <a:r>
              <a:rPr lang="pt-BR" sz="900" b="1" dirty="0" err="1">
                <a:solidFill>
                  <a:schemeClr val="bg1">
                    <a:lumMod val="65000"/>
                  </a:schemeClr>
                </a:solidFill>
              </a:rPr>
              <a:t>the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 future </a:t>
            </a:r>
            <a:r>
              <a:rPr lang="pt-BR" sz="900" b="1" dirty="0" err="1">
                <a:solidFill>
                  <a:schemeClr val="bg1">
                    <a:lumMod val="65000"/>
                  </a:schemeClr>
                </a:solidFill>
              </a:rPr>
              <a:t>we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BR" sz="900" b="1" dirty="0" err="1">
                <a:solidFill>
                  <a:schemeClr val="bg1">
                    <a:lumMod val="65000"/>
                  </a:schemeClr>
                </a:solidFill>
              </a:rPr>
              <a:t>choose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BR" sz="900" b="1" dirty="0" err="1">
                <a:solidFill>
                  <a:schemeClr val="bg1">
                    <a:lumMod val="65000"/>
                  </a:schemeClr>
                </a:solidFill>
              </a:rPr>
              <a:t>together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 - </a:t>
            </a:r>
            <a:r>
              <a:rPr lang="en-US" sz="900" b="1" dirty="0">
                <a:solidFill>
                  <a:schemeClr val="bg1">
                    <a:lumMod val="65000"/>
                  </a:schemeClr>
                </a:solidFill>
              </a:rPr>
              <a:t>OMS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BBBBB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2AB1AB65-46A0-3617-F8DE-7D0EFE9077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308" t="19419" r="6000" b="36000"/>
          <a:stretch>
            <a:fillRect/>
          </a:stretch>
        </p:blipFill>
        <p:spPr>
          <a:xfrm>
            <a:off x="5215597" y="73856"/>
            <a:ext cx="3720905" cy="2293034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E07FA99E-AA1A-2C21-690C-31A4BD8539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00" t="37607" r="51307" b="10974"/>
          <a:stretch>
            <a:fillRect/>
          </a:stretch>
        </p:blipFill>
        <p:spPr>
          <a:xfrm>
            <a:off x="5423095" y="2366890"/>
            <a:ext cx="3720905" cy="26447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2D3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Fatores de Risco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3017520"/>
          </a:xfrm>
          <a:prstGeom prst="roundRect">
            <a:avLst>
              <a:gd name="adj" fmla="val 4545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2040"/>
                </a:solidFill>
              </a:rPr>
              <a:t>Não Modificáveis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1810512"/>
            <a:ext cx="146304" cy="146304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1234440" y="1755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3F"/>
                </a:solidFill>
              </a:rPr>
              <a:t>Idade acima de 50 anos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0120" y="2176272"/>
            <a:ext cx="146304" cy="146304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1234440" y="2121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3F"/>
                </a:solidFill>
              </a:rPr>
              <a:t>História familiar (1º grau)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2542032"/>
            <a:ext cx="146304" cy="146304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1234440" y="2487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3F"/>
                </a:solidFill>
              </a:rPr>
              <a:t>Mutações genéticas (BRCA1/BRCA2)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2907792"/>
            <a:ext cx="146304" cy="146304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1234440" y="2852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3F"/>
                </a:solidFill>
              </a:rPr>
              <a:t>Menarca precoce (antes dos 12 anos)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3273552"/>
            <a:ext cx="146304" cy="146304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1234440" y="3218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3F"/>
                </a:solidFill>
              </a:rPr>
              <a:t>Menopausa tardia (após 55 anos)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" y="3639312"/>
            <a:ext cx="146304" cy="146304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1234440" y="3584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3F"/>
                </a:solidFill>
              </a:rPr>
              <a:t>Primeira gestação após 30 anos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3749040" cy="3017520"/>
          </a:xfrm>
          <a:prstGeom prst="roundRect">
            <a:avLst>
              <a:gd name="adj" fmla="val 4545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475488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2040"/>
                </a:solidFill>
              </a:rPr>
              <a:t>Modificáveis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4920" y="1810512"/>
            <a:ext cx="146304" cy="146304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5349240" y="1755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3F"/>
                </a:solidFill>
              </a:rPr>
              <a:t>Obesidade e sobrepeso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74920" y="2176272"/>
            <a:ext cx="146304" cy="146304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5349240" y="2121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3F"/>
                </a:solidFill>
              </a:rPr>
              <a:t>Sedentarismo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74920" y="2542032"/>
            <a:ext cx="146304" cy="146304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5349240" y="2487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3F"/>
                </a:solidFill>
              </a:rPr>
              <a:t>Consumo de álcool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74920" y="2907792"/>
            <a:ext cx="146304" cy="146304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5349240" y="2852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3F"/>
                </a:solidFill>
              </a:rPr>
              <a:t>Tabagismo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74920" y="3273552"/>
            <a:ext cx="146304" cy="146304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 txBox="1"/>
          <p:nvPr/>
        </p:nvSpPr>
        <p:spPr>
          <a:xfrm>
            <a:off x="5349240" y="31729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3F"/>
                </a:solidFill>
              </a:rPr>
              <a:t>Dieta rica em gorduras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99999"/>
                </a:solidFill>
              </a:rPr>
              <a:t>Os fatores modificáveis representam uma oportunidade real de reduzir o risco.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BBBBB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2D3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Rastreamento do Câncer de Mama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863840" cy="1051560"/>
          </a:xfrm>
          <a:prstGeom prst="roundRect">
            <a:avLst>
              <a:gd name="adj" fmla="val 13043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60120" y="1188720"/>
            <a:ext cx="777240" cy="777240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6012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143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2040"/>
                </a:solidFill>
              </a:rPr>
              <a:t>Mamografia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554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3F"/>
                </a:solidFill>
              </a:rPr>
              <a:t>Principal exame de rastreamento — detecta lesões antes de serem palpáveis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2194560" cy="594360"/>
          </a:xfrm>
          <a:prstGeom prst="roundRect">
            <a:avLst>
              <a:gd name="adj" fmla="val 23077"/>
            </a:avLst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40 –74 anos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D2D3F"/>
                </a:solidFill>
              </a:rPr>
              <a:t>Mamografia</a:t>
            </a:r>
            <a:r>
              <a:rPr lang="en-US" sz="1300" b="1" dirty="0">
                <a:solidFill>
                  <a:srgbClr val="2D2D3F"/>
                </a:solidFill>
              </a:rPr>
              <a:t> </a:t>
            </a:r>
            <a:r>
              <a:rPr lang="en-US" sz="1300" b="1" dirty="0" err="1">
                <a:solidFill>
                  <a:srgbClr val="2D2D3F"/>
                </a:solidFill>
              </a:rPr>
              <a:t>anual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697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9999"/>
                </a:solidFill>
              </a:rPr>
              <a:t>Casos </a:t>
            </a:r>
            <a:r>
              <a:rPr lang="en-US" sz="1100" i="1" dirty="0" err="1">
                <a:solidFill>
                  <a:srgbClr val="999999"/>
                </a:solidFill>
              </a:rPr>
              <a:t>específicos</a:t>
            </a:r>
            <a:r>
              <a:rPr lang="en-US" sz="1100" i="1" dirty="0">
                <a:solidFill>
                  <a:srgbClr val="999999"/>
                </a:solidFill>
              </a:rPr>
              <a:t> </a:t>
            </a:r>
            <a:r>
              <a:rPr lang="en-US" sz="1100" i="1" dirty="0" err="1">
                <a:solidFill>
                  <a:srgbClr val="999999"/>
                </a:solidFill>
              </a:rPr>
              <a:t>podem</a:t>
            </a:r>
            <a:r>
              <a:rPr lang="en-US" sz="1100" i="1" dirty="0">
                <a:solidFill>
                  <a:srgbClr val="999999"/>
                </a:solidFill>
              </a:rPr>
              <a:t> ter </a:t>
            </a:r>
            <a:r>
              <a:rPr lang="en-US" sz="1100" i="1" dirty="0" err="1">
                <a:solidFill>
                  <a:srgbClr val="999999"/>
                </a:solidFill>
              </a:rPr>
              <a:t>início</a:t>
            </a:r>
            <a:r>
              <a:rPr lang="en-US" sz="1100" i="1" dirty="0">
                <a:solidFill>
                  <a:srgbClr val="999999"/>
                </a:solidFill>
              </a:rPr>
              <a:t> antes dos 40 </a:t>
            </a:r>
            <a:r>
              <a:rPr lang="en-US" sz="1100" i="1" dirty="0" err="1">
                <a:solidFill>
                  <a:srgbClr val="999999"/>
                </a:solidFill>
              </a:rPr>
              <a:t>anos</a:t>
            </a:r>
            <a:r>
              <a:rPr lang="en-US" sz="1100" i="1" dirty="0">
                <a:solidFill>
                  <a:srgbClr val="999999"/>
                </a:solidFill>
              </a:rPr>
              <a:t>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2194560" cy="594360"/>
          </a:xfrm>
          <a:prstGeom prst="roundRect">
            <a:avLst>
              <a:gd name="adj" fmla="val 23077"/>
            </a:avLst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640080" y="3154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 </a:t>
            </a:r>
            <a:r>
              <a:rPr lang="en-US" sz="1500" b="1" dirty="0" err="1">
                <a:solidFill>
                  <a:srgbClr val="FFFFFF"/>
                </a:solidFill>
              </a:rPr>
              <a:t>após</a:t>
            </a:r>
            <a:r>
              <a:rPr lang="en-US" sz="1500" b="1" dirty="0">
                <a:solidFill>
                  <a:srgbClr val="FFFFFF"/>
                </a:solidFill>
              </a:rPr>
              <a:t> 75 </a:t>
            </a:r>
            <a:r>
              <a:rPr lang="en-US" sz="1500" b="1" dirty="0" err="1">
                <a:solidFill>
                  <a:srgbClr val="FFFFFF"/>
                </a:solidFill>
              </a:rPr>
              <a:t>anos</a:t>
            </a:r>
            <a:r>
              <a:rPr lang="en-US" sz="1500" b="1" dirty="0">
                <a:solidFill>
                  <a:srgbClr val="FFFFFF"/>
                </a:solidFill>
              </a:rPr>
              <a:t>?!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F"/>
                </a:solidFill>
              </a:rPr>
              <a:t>Sim! 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474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9999"/>
                </a:solidFill>
              </a:rPr>
              <a:t>Á </a:t>
            </a:r>
            <a:r>
              <a:rPr lang="en-US" sz="1100" i="1" dirty="0" err="1">
                <a:solidFill>
                  <a:srgbClr val="999999"/>
                </a:solidFill>
              </a:rPr>
              <a:t>decisão</a:t>
            </a:r>
            <a:r>
              <a:rPr lang="en-US" sz="1100" i="1" dirty="0">
                <a:solidFill>
                  <a:srgbClr val="999999"/>
                </a:solidFill>
              </a:rPr>
              <a:t> é </a:t>
            </a:r>
            <a:r>
              <a:rPr lang="en-US" sz="1100" i="1" dirty="0" err="1">
                <a:solidFill>
                  <a:srgbClr val="999999"/>
                </a:solidFill>
              </a:rPr>
              <a:t>induvidualizada</a:t>
            </a:r>
            <a:r>
              <a:rPr lang="en-US" sz="1100" i="1" dirty="0">
                <a:solidFill>
                  <a:srgbClr val="999999"/>
                </a:solidFill>
              </a:rPr>
              <a:t>, </a:t>
            </a:r>
            <a:r>
              <a:rPr lang="en-US" sz="1100" i="1" dirty="0" err="1">
                <a:solidFill>
                  <a:srgbClr val="999999"/>
                </a:solidFill>
              </a:rPr>
              <a:t>baseada</a:t>
            </a:r>
            <a:r>
              <a:rPr lang="en-US" sz="1100" i="1" dirty="0">
                <a:solidFill>
                  <a:srgbClr val="999999"/>
                </a:solidFill>
              </a:rPr>
              <a:t> </a:t>
            </a:r>
            <a:r>
              <a:rPr lang="en-US" sz="1100" i="1" dirty="0" err="1">
                <a:solidFill>
                  <a:srgbClr val="999999"/>
                </a:solidFill>
              </a:rPr>
              <a:t>na</a:t>
            </a:r>
            <a:r>
              <a:rPr lang="en-US" sz="1100" i="1" dirty="0">
                <a:solidFill>
                  <a:srgbClr val="999999"/>
                </a:solidFill>
              </a:rPr>
              <a:t> estimative de </a:t>
            </a:r>
            <a:r>
              <a:rPr lang="en-US" sz="1100" i="1" dirty="0" err="1">
                <a:solidFill>
                  <a:srgbClr val="999999"/>
                </a:solidFill>
              </a:rPr>
              <a:t>vida</a:t>
            </a:r>
            <a:r>
              <a:rPr lang="en-US" sz="1100" i="1" dirty="0">
                <a:solidFill>
                  <a:srgbClr val="999999"/>
                </a:solidFill>
              </a:rPr>
              <a:t>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2194560" cy="594360"/>
          </a:xfrm>
          <a:prstGeom prst="roundRect">
            <a:avLst>
              <a:gd name="adj" fmla="val 23077"/>
            </a:avLst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640080" y="39319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Posso </a:t>
            </a:r>
            <a:r>
              <a:rPr lang="en-US" sz="1500" b="1" dirty="0" err="1">
                <a:solidFill>
                  <a:srgbClr val="FFFFFF"/>
                </a:solidFill>
              </a:rPr>
              <a:t>substituir</a:t>
            </a:r>
            <a:r>
              <a:rPr lang="en-US" sz="1500" b="1" dirty="0">
                <a:solidFill>
                  <a:srgbClr val="FFFFFF"/>
                </a:solidFill>
              </a:rPr>
              <a:t> </a:t>
            </a:r>
            <a:r>
              <a:rPr lang="en-US" sz="1500" b="1" dirty="0" err="1">
                <a:solidFill>
                  <a:srgbClr val="FFFFFF"/>
                </a:solidFill>
              </a:rPr>
              <a:t>por</a:t>
            </a:r>
            <a:r>
              <a:rPr lang="en-US" sz="1500" b="1" dirty="0">
                <a:solidFill>
                  <a:srgbClr val="FFFFFF"/>
                </a:solidFill>
              </a:rPr>
              <a:t> ULTRASSOM?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D2D3F"/>
                </a:solidFill>
              </a:rPr>
              <a:t>Não</a:t>
            </a:r>
            <a:r>
              <a:rPr lang="en-US" sz="1300" b="1" dirty="0">
                <a:solidFill>
                  <a:srgbClr val="2D2D3F"/>
                </a:solidFill>
              </a:rPr>
              <a:t>!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4251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9999"/>
                </a:solidFill>
              </a:rPr>
              <a:t>O </a:t>
            </a:r>
            <a:r>
              <a:rPr lang="en-US" sz="1100" i="1" dirty="0" err="1">
                <a:solidFill>
                  <a:srgbClr val="999999"/>
                </a:solidFill>
              </a:rPr>
              <a:t>ultrassom</a:t>
            </a:r>
            <a:r>
              <a:rPr lang="en-US" sz="1100" i="1" dirty="0">
                <a:solidFill>
                  <a:srgbClr val="999999"/>
                </a:solidFill>
              </a:rPr>
              <a:t> é </a:t>
            </a:r>
            <a:r>
              <a:rPr lang="en-US" sz="1100" i="1" dirty="0" err="1">
                <a:solidFill>
                  <a:srgbClr val="999999"/>
                </a:solidFill>
              </a:rPr>
              <a:t>uma</a:t>
            </a:r>
            <a:r>
              <a:rPr lang="en-US" sz="1100" i="1" dirty="0">
                <a:solidFill>
                  <a:srgbClr val="999999"/>
                </a:solidFill>
              </a:rPr>
              <a:t> ferramenta de </a:t>
            </a:r>
            <a:r>
              <a:rPr lang="en-US" sz="1100" i="1" dirty="0" err="1">
                <a:solidFill>
                  <a:srgbClr val="999999"/>
                </a:solidFill>
              </a:rPr>
              <a:t>apoio</a:t>
            </a:r>
            <a:r>
              <a:rPr lang="en-US" sz="1100" i="1" dirty="0">
                <a:solidFill>
                  <a:srgbClr val="999999"/>
                </a:solidFill>
              </a:rPr>
              <a:t>, mas </a:t>
            </a:r>
            <a:r>
              <a:rPr lang="en-US" sz="1100" i="1" dirty="0" err="1">
                <a:solidFill>
                  <a:srgbClr val="999999"/>
                </a:solidFill>
              </a:rPr>
              <a:t>não</a:t>
            </a:r>
            <a:r>
              <a:rPr lang="en-US" sz="1100" i="1" dirty="0">
                <a:solidFill>
                  <a:srgbClr val="999999"/>
                </a:solidFill>
              </a:rPr>
              <a:t> </a:t>
            </a:r>
            <a:r>
              <a:rPr lang="en-US" sz="1100" i="1" dirty="0" err="1">
                <a:solidFill>
                  <a:srgbClr val="999999"/>
                </a:solidFill>
              </a:rPr>
              <a:t>substitui</a:t>
            </a:r>
            <a:r>
              <a:rPr lang="en-US" sz="1100" i="1" dirty="0">
                <a:solidFill>
                  <a:srgbClr val="999999"/>
                </a:solidFill>
              </a:rPr>
              <a:t> a </a:t>
            </a:r>
            <a:r>
              <a:rPr lang="en-US" sz="1100" i="1" dirty="0" err="1">
                <a:solidFill>
                  <a:srgbClr val="999999"/>
                </a:solidFill>
              </a:rPr>
              <a:t>mamografia</a:t>
            </a:r>
            <a:r>
              <a:rPr lang="en-US" sz="1100" i="1" dirty="0">
                <a:solidFill>
                  <a:srgbClr val="999999"/>
                </a:solidFill>
              </a:rPr>
              <a:t>. 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5948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</a:rPr>
              <a:t>Fonte: SBM (Sociedade Brasileira de Mastologia)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BBBBB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2D3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Sinais de Alerta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</a:rPr>
              <a:t>Procure um médico se notar qualquer uma dessas alterações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840480" cy="822960"/>
          </a:xfrm>
          <a:prstGeom prst="roundRect">
            <a:avLst>
              <a:gd name="adj" fmla="val 16667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365760" cy="365760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229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630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3F"/>
                </a:solidFill>
              </a:rPr>
              <a:t>Nódulo fixo e geralmente indolor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40480" cy="822960"/>
          </a:xfrm>
          <a:prstGeom prst="roundRect">
            <a:avLst>
              <a:gd name="adj" fmla="val 16667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937760" y="1600200"/>
            <a:ext cx="365760" cy="365760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49377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4630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3F"/>
                </a:solidFill>
              </a:rPr>
              <a:t>Alteração no formato da mama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377440"/>
            <a:ext cx="3840480" cy="822960"/>
          </a:xfrm>
          <a:prstGeom prst="roundRect">
            <a:avLst>
              <a:gd name="adj" fmla="val 16667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22960" y="2606040"/>
            <a:ext cx="365760" cy="365760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82296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468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3F"/>
                </a:solidFill>
              </a:rPr>
              <a:t>Pele com aspecto de casca de laranja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3840480" cy="822960"/>
          </a:xfrm>
          <a:prstGeom prst="roundRect">
            <a:avLst>
              <a:gd name="adj" fmla="val 16667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937760" y="2606040"/>
            <a:ext cx="365760" cy="365760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493776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40680" y="2468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3F"/>
                </a:solidFill>
              </a:rPr>
              <a:t>Vermelhidão ou retração da pele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383280"/>
            <a:ext cx="3840480" cy="822960"/>
          </a:xfrm>
          <a:prstGeom prst="roundRect">
            <a:avLst>
              <a:gd name="adj" fmla="val 16667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22960" y="3611880"/>
            <a:ext cx="365760" cy="365760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8229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474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3F"/>
                </a:solidFill>
              </a:rPr>
              <a:t>Saída de líquido pelo mamilo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3383280"/>
            <a:ext cx="3840480" cy="822960"/>
          </a:xfrm>
          <a:prstGeom prst="roundRect">
            <a:avLst>
              <a:gd name="adj" fmla="val 16667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937760" y="3611880"/>
            <a:ext cx="365760" cy="365760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49377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3474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3F"/>
                </a:solidFill>
              </a:rPr>
              <a:t>Nódulo na axila (íngua)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286000" y="4343400"/>
            <a:ext cx="4572000" cy="457200"/>
          </a:xfrm>
          <a:prstGeom prst="roundRect">
            <a:avLst>
              <a:gd name="adj" fmla="val 30000"/>
            </a:avLst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2286000" y="4343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Na dúvida, procure atendimento médico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BBBBB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"/>
            <a:ext cx="2926080" cy="2926080"/>
          </a:xfrm>
          <a:prstGeom prst="ellipse">
            <a:avLst/>
          </a:prstGeom>
          <a:solidFill>
            <a:srgbClr val="7B20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7B20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Câncer de</a:t>
            </a:r>
            <a:endParaRPr lang="en-US" sz="4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Colo Uterino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7B2C4"/>
                </a:solidFill>
              </a:rPr>
              <a:t>Prevenção e Detecção Precoce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2D3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Prevenção do Câncer de Colo Uterino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777240"/>
          </a:xfrm>
          <a:prstGeom prst="roundRect">
            <a:avLst>
              <a:gd name="adj" fmla="val 17647"/>
            </a:avLst>
          </a:prstGeom>
          <a:solidFill>
            <a:srgbClr val="7B20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914400" y="10058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 HPV (papilomavírus humano) causa praticamente todos os casos de câncer de colo uterino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39112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040"/>
                </a:solidFill>
              </a:rPr>
              <a:t>Vacinação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7B2040"/>
                </a:solidFill>
              </a:rPr>
              <a:t>contra HPV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907792"/>
            <a:ext cx="128016" cy="128016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1051560" y="2743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F"/>
                </a:solidFill>
              </a:rPr>
              <a:t>Meninas e </a:t>
            </a:r>
            <a:r>
              <a:rPr lang="en-US" sz="1100" dirty="0" err="1">
                <a:solidFill>
                  <a:srgbClr val="2D2D3F"/>
                </a:solidFill>
              </a:rPr>
              <a:t>meninos</a:t>
            </a:r>
            <a:r>
              <a:rPr lang="en-US" sz="1100" dirty="0">
                <a:solidFill>
                  <a:srgbClr val="2D2D3F"/>
                </a:solidFill>
              </a:rPr>
              <a:t>: 9 a 14 </a:t>
            </a:r>
            <a:r>
              <a:rPr lang="en-US" sz="1100" dirty="0" err="1">
                <a:solidFill>
                  <a:srgbClr val="2D2D3F"/>
                </a:solidFill>
              </a:rPr>
              <a:t>anos</a:t>
            </a:r>
            <a:r>
              <a:rPr lang="en-US" sz="1100" dirty="0">
                <a:solidFill>
                  <a:srgbClr val="2D2D3F"/>
                </a:solidFill>
              </a:rPr>
              <a:t> (SUS)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410712"/>
            <a:ext cx="128016" cy="128016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822960" y="3913632"/>
            <a:ext cx="128016" cy="128016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1051560" y="3246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F"/>
                </a:solidFill>
              </a:rPr>
              <a:t> Homens e </a:t>
            </a:r>
            <a:r>
              <a:rPr lang="en-US" sz="1100" dirty="0" err="1">
                <a:solidFill>
                  <a:srgbClr val="2D2D3F"/>
                </a:solidFill>
              </a:rPr>
              <a:t>mulheres</a:t>
            </a:r>
            <a:r>
              <a:rPr lang="en-US" sz="1100" dirty="0">
                <a:solidFill>
                  <a:srgbClr val="2D2D3F"/>
                </a:solidFill>
              </a:rPr>
              <a:t> 9 a 45 </a:t>
            </a:r>
            <a:r>
              <a:rPr lang="en-US" sz="1100" dirty="0" err="1">
                <a:solidFill>
                  <a:srgbClr val="2D2D3F"/>
                </a:solidFill>
              </a:rPr>
              <a:t>anos</a:t>
            </a:r>
            <a:r>
              <a:rPr lang="en-US" sz="1100" dirty="0">
                <a:solidFill>
                  <a:srgbClr val="2D2D3F"/>
                </a:solidFill>
              </a:rPr>
              <a:t>  (rede </a:t>
            </a:r>
            <a:r>
              <a:rPr lang="en-US" sz="1100" dirty="0" err="1">
                <a:solidFill>
                  <a:srgbClr val="2D2D3F"/>
                </a:solidFill>
              </a:rPr>
              <a:t>privada</a:t>
            </a:r>
            <a:r>
              <a:rPr lang="en-US" sz="1100" dirty="0">
                <a:solidFill>
                  <a:srgbClr val="2D2D3F"/>
                </a:solidFill>
              </a:rPr>
              <a:t>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416552"/>
            <a:ext cx="128016" cy="128016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1051559" y="3785616"/>
            <a:ext cx="21488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F"/>
                </a:solidFill>
              </a:rPr>
              <a:t>Protege antes do </a:t>
            </a:r>
            <a:r>
              <a:rPr lang="en-US" sz="1100" dirty="0" err="1">
                <a:solidFill>
                  <a:srgbClr val="2D2D3F"/>
                </a:solidFill>
              </a:rPr>
              <a:t>contato</a:t>
            </a:r>
            <a:r>
              <a:rPr lang="en-US" sz="1100" dirty="0">
                <a:solidFill>
                  <a:srgbClr val="2D2D3F"/>
                </a:solidFill>
              </a:rPr>
              <a:t> com o vírus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201168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361188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040"/>
                </a:solidFill>
              </a:rPr>
              <a:t>Exame </a:t>
            </a:r>
            <a:r>
              <a:rPr lang="en-US" sz="1400" b="1" dirty="0" err="1">
                <a:solidFill>
                  <a:srgbClr val="7B2040"/>
                </a:solidFill>
              </a:rPr>
              <a:t>Preventivo</a:t>
            </a:r>
            <a:r>
              <a:rPr lang="en-US" sz="1400" b="1" dirty="0">
                <a:solidFill>
                  <a:srgbClr val="7B2040"/>
                </a:solidFill>
              </a:rPr>
              <a:t> – </a:t>
            </a:r>
            <a:r>
              <a:rPr lang="en-US" sz="1400" b="1" dirty="0" err="1">
                <a:solidFill>
                  <a:srgbClr val="7B2040"/>
                </a:solidFill>
              </a:rPr>
              <a:t>Genotipagem</a:t>
            </a:r>
            <a:r>
              <a:rPr lang="en-US" sz="1400" b="1" dirty="0">
                <a:solidFill>
                  <a:srgbClr val="7B2040"/>
                </a:solidFill>
              </a:rPr>
              <a:t> HPV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0" y="2907792"/>
            <a:ext cx="128016" cy="128016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3886200" y="2834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F"/>
                </a:solidFill>
              </a:rPr>
              <a:t>Mulheres de 25 a 64 anos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0" y="3410712"/>
            <a:ext cx="128016" cy="128016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3886200" y="3337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F"/>
                </a:solidFill>
              </a:rPr>
              <a:t>A </a:t>
            </a:r>
            <a:r>
              <a:rPr lang="en-US" sz="1100" dirty="0" err="1">
                <a:solidFill>
                  <a:srgbClr val="2D2D3F"/>
                </a:solidFill>
              </a:rPr>
              <a:t>cada</a:t>
            </a:r>
            <a:r>
              <a:rPr lang="en-US" sz="1100" dirty="0">
                <a:solidFill>
                  <a:srgbClr val="2D2D3F"/>
                </a:solidFill>
              </a:rPr>
              <a:t> 5 </a:t>
            </a:r>
            <a:r>
              <a:rPr lang="en-US" sz="1100" dirty="0" err="1">
                <a:solidFill>
                  <a:srgbClr val="2D2D3F"/>
                </a:solidFill>
              </a:rPr>
              <a:t>anos</a:t>
            </a:r>
            <a:r>
              <a:rPr lang="en-US" sz="1100" dirty="0">
                <a:solidFill>
                  <a:srgbClr val="2D2D3F"/>
                </a:solidFill>
              </a:rPr>
              <a:t>!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0" y="3913632"/>
            <a:ext cx="128016" cy="128016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3886200" y="3840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2D2D3F"/>
                </a:solidFill>
              </a:rPr>
              <a:t>Detecta</a:t>
            </a:r>
            <a:r>
              <a:rPr lang="en-US" sz="1100" dirty="0">
                <a:solidFill>
                  <a:srgbClr val="2D2D3F"/>
                </a:solidFill>
              </a:rPr>
              <a:t> </a:t>
            </a:r>
            <a:r>
              <a:rPr lang="en-US" sz="1100" dirty="0" err="1">
                <a:solidFill>
                  <a:srgbClr val="2D2D3F"/>
                </a:solidFill>
              </a:rPr>
              <a:t>presença</a:t>
            </a:r>
            <a:r>
              <a:rPr lang="en-US" sz="1100" dirty="0">
                <a:solidFill>
                  <a:srgbClr val="2D2D3F"/>
                </a:solidFill>
              </a:rPr>
              <a:t> do </a:t>
            </a:r>
            <a:r>
              <a:rPr lang="en-US" sz="1100" dirty="0" err="1">
                <a:solidFill>
                  <a:srgbClr val="2D2D3F"/>
                </a:solidFill>
              </a:rPr>
              <a:t>vírus</a:t>
            </a:r>
            <a:r>
              <a:rPr lang="en-US" sz="1100" dirty="0">
                <a:solidFill>
                  <a:srgbClr val="2D2D3F"/>
                </a:solidFill>
              </a:rPr>
              <a:t> </a:t>
            </a:r>
            <a:r>
              <a:rPr lang="en-US" sz="1100" dirty="0" err="1">
                <a:solidFill>
                  <a:srgbClr val="2D2D3F"/>
                </a:solidFill>
              </a:rPr>
              <a:t>responsável</a:t>
            </a:r>
            <a:r>
              <a:rPr lang="en-US" sz="1100" dirty="0">
                <a:solidFill>
                  <a:srgbClr val="2D2D3F"/>
                </a:solidFill>
              </a:rPr>
              <a:t> </a:t>
            </a:r>
            <a:r>
              <a:rPr lang="en-US" sz="1100" dirty="0" err="1">
                <a:solidFill>
                  <a:srgbClr val="2D2D3F"/>
                </a:solidFill>
              </a:rPr>
              <a:t>pelo</a:t>
            </a:r>
            <a:r>
              <a:rPr lang="en-US" sz="1100" dirty="0">
                <a:solidFill>
                  <a:srgbClr val="2D2D3F"/>
                </a:solidFill>
              </a:rPr>
              <a:t> </a:t>
            </a:r>
            <a:r>
              <a:rPr lang="en-US" sz="1100" dirty="0" err="1">
                <a:solidFill>
                  <a:srgbClr val="2D2D3F"/>
                </a:solidFill>
              </a:rPr>
              <a:t>câncer</a:t>
            </a:r>
            <a:r>
              <a:rPr lang="en-US" sz="1100" dirty="0">
                <a:solidFill>
                  <a:srgbClr val="2D2D3F"/>
                </a:solidFill>
              </a:rPr>
              <a:t>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201168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644652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040"/>
                </a:solidFill>
              </a:rPr>
              <a:t>Tratamento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7B2040"/>
                </a:solidFill>
              </a:rPr>
              <a:t>Precoce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92240" y="2907792"/>
            <a:ext cx="128016" cy="128016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6720840" y="2834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2D2D3F"/>
                </a:solidFill>
              </a:rPr>
              <a:t>Lesão</a:t>
            </a:r>
            <a:r>
              <a:rPr lang="en-US" sz="1100" dirty="0">
                <a:solidFill>
                  <a:srgbClr val="2D2D3F"/>
                </a:solidFill>
              </a:rPr>
              <a:t> </a:t>
            </a:r>
            <a:r>
              <a:rPr lang="en-US" sz="1100" dirty="0" err="1">
                <a:solidFill>
                  <a:srgbClr val="2D2D3F"/>
                </a:solidFill>
              </a:rPr>
              <a:t>precursora</a:t>
            </a:r>
            <a:r>
              <a:rPr lang="en-US" sz="1100" dirty="0">
                <a:solidFill>
                  <a:srgbClr val="2D2D3F"/>
                </a:solidFill>
              </a:rPr>
              <a:t> </a:t>
            </a:r>
            <a:r>
              <a:rPr lang="en-US" sz="1100" dirty="0" err="1">
                <a:solidFill>
                  <a:srgbClr val="2D2D3F"/>
                </a:solidFill>
              </a:rPr>
              <a:t>não</a:t>
            </a:r>
            <a:r>
              <a:rPr lang="en-US" sz="1100" dirty="0">
                <a:solidFill>
                  <a:srgbClr val="2D2D3F"/>
                </a:solidFill>
              </a:rPr>
              <a:t> é câncer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3410712"/>
            <a:ext cx="128016" cy="128016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6720840" y="3337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2D2D3F"/>
                </a:solidFill>
              </a:rPr>
              <a:t>Tratamento</a:t>
            </a:r>
            <a:r>
              <a:rPr lang="en-US" sz="1100" dirty="0">
                <a:solidFill>
                  <a:srgbClr val="2D2D3F"/>
                </a:solidFill>
              </a:rPr>
              <a:t> e </a:t>
            </a:r>
            <a:r>
              <a:rPr lang="en-US" sz="1100" dirty="0" err="1">
                <a:solidFill>
                  <a:srgbClr val="2D2D3F"/>
                </a:solidFill>
              </a:rPr>
              <a:t>acompanhamento</a:t>
            </a:r>
            <a:r>
              <a:rPr lang="en-US" sz="1100" dirty="0">
                <a:solidFill>
                  <a:srgbClr val="2D2D3F"/>
                </a:solidFill>
              </a:rPr>
              <a:t> </a:t>
            </a:r>
            <a:r>
              <a:rPr lang="en-US" sz="1100" dirty="0" err="1">
                <a:solidFill>
                  <a:srgbClr val="2D2D3F"/>
                </a:solidFill>
              </a:rPr>
              <a:t>são</a:t>
            </a:r>
            <a:r>
              <a:rPr lang="en-US" sz="1100" dirty="0">
                <a:solidFill>
                  <a:srgbClr val="2D2D3F"/>
                </a:solidFill>
              </a:rPr>
              <a:t> </a:t>
            </a:r>
            <a:r>
              <a:rPr lang="en-US" sz="1100" dirty="0" err="1">
                <a:solidFill>
                  <a:srgbClr val="2D2D3F"/>
                </a:solidFill>
              </a:rPr>
              <a:t>eficazes</a:t>
            </a:r>
            <a:r>
              <a:rPr lang="en-US" sz="1100" dirty="0">
                <a:solidFill>
                  <a:srgbClr val="2D2D3F"/>
                </a:solidFill>
              </a:rPr>
              <a:t> 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3913632"/>
            <a:ext cx="128016" cy="128016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 txBox="1"/>
          <p:nvPr/>
        </p:nvSpPr>
        <p:spPr>
          <a:xfrm>
            <a:off x="6720840" y="3840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F"/>
                </a:solidFill>
              </a:rPr>
              <a:t>Evita </a:t>
            </a:r>
            <a:r>
              <a:rPr lang="en-US" sz="1100" dirty="0" err="1">
                <a:solidFill>
                  <a:srgbClr val="2D2D3F"/>
                </a:solidFill>
              </a:rPr>
              <a:t>evolução</a:t>
            </a:r>
            <a:r>
              <a:rPr lang="en-US" sz="1100" dirty="0">
                <a:solidFill>
                  <a:srgbClr val="2D2D3F"/>
                </a:solidFill>
              </a:rPr>
              <a:t> para </a:t>
            </a:r>
            <a:r>
              <a:rPr lang="en-US" sz="1100" dirty="0" err="1">
                <a:solidFill>
                  <a:srgbClr val="2D2D3F"/>
                </a:solidFill>
              </a:rPr>
              <a:t>câncer</a:t>
            </a:r>
            <a:r>
              <a:rPr lang="en-US" sz="1100" dirty="0">
                <a:solidFill>
                  <a:srgbClr val="2D2D3F"/>
                </a:solidFill>
              </a:rPr>
              <a:t> invasivo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BBBBB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EC6AF76B-1B9F-BC40-3E11-23D604961256}"/>
              </a:ext>
            </a:extLst>
          </p:cNvPr>
          <p:cNvSpPr txBox="1"/>
          <p:nvPr/>
        </p:nvSpPr>
        <p:spPr>
          <a:xfrm>
            <a:off x="1051560" y="43251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F"/>
                </a:solidFill>
              </a:rPr>
              <a:t>Evita </a:t>
            </a:r>
            <a:r>
              <a:rPr lang="en-US" sz="1100" dirty="0" err="1">
                <a:solidFill>
                  <a:srgbClr val="2D2D3F"/>
                </a:solidFill>
              </a:rPr>
              <a:t>não</a:t>
            </a:r>
            <a:r>
              <a:rPr lang="en-US" sz="1100" dirty="0">
                <a:solidFill>
                  <a:srgbClr val="2D2D3F"/>
                </a:solidFill>
              </a:rPr>
              <a:t> </a:t>
            </a:r>
            <a:r>
              <a:rPr lang="en-US" sz="1100" dirty="0" err="1">
                <a:solidFill>
                  <a:srgbClr val="2D2D3F"/>
                </a:solidFill>
              </a:rPr>
              <a:t>só</a:t>
            </a:r>
            <a:r>
              <a:rPr lang="en-US" sz="1100" dirty="0">
                <a:solidFill>
                  <a:srgbClr val="2D2D3F"/>
                </a:solidFill>
              </a:rPr>
              <a:t> cancer de </a:t>
            </a:r>
            <a:r>
              <a:rPr lang="en-US" sz="1100" dirty="0" err="1">
                <a:solidFill>
                  <a:srgbClr val="2D2D3F"/>
                </a:solidFill>
              </a:rPr>
              <a:t>colo</a:t>
            </a:r>
            <a:r>
              <a:rPr lang="en-US" sz="1100" dirty="0">
                <a:solidFill>
                  <a:srgbClr val="2D2D3F"/>
                </a:solidFill>
              </a:rPr>
              <a:t> </a:t>
            </a:r>
            <a:r>
              <a:rPr lang="en-US" sz="1100" dirty="0" err="1">
                <a:solidFill>
                  <a:srgbClr val="2D2D3F"/>
                </a:solidFill>
              </a:rPr>
              <a:t>uterino</a:t>
            </a:r>
            <a:r>
              <a:rPr lang="en-US" sz="1100" dirty="0">
                <a:solidFill>
                  <a:srgbClr val="2D2D3F"/>
                </a:solidFill>
              </a:rPr>
              <a:t>, mas </a:t>
            </a:r>
            <a:r>
              <a:rPr lang="en-US" sz="1100" dirty="0" err="1">
                <a:solidFill>
                  <a:srgbClr val="2D2D3F"/>
                </a:solidFill>
              </a:rPr>
              <a:t>outras</a:t>
            </a:r>
            <a:r>
              <a:rPr lang="en-US" sz="1100" dirty="0">
                <a:solidFill>
                  <a:srgbClr val="2D2D3F"/>
                </a:solidFill>
              </a:rPr>
              <a:t> </a:t>
            </a:r>
            <a:r>
              <a:rPr lang="en-US" sz="1100" dirty="0" err="1">
                <a:solidFill>
                  <a:srgbClr val="2D2D3F"/>
                </a:solidFill>
              </a:rPr>
              <a:t>neoplasias</a:t>
            </a:r>
            <a:r>
              <a:rPr lang="en-US" sz="1100" dirty="0">
                <a:solidFill>
                  <a:srgbClr val="2D2D3F"/>
                </a:solidFill>
              </a:rPr>
              <a:t> </a:t>
            </a:r>
            <a:r>
              <a:rPr lang="en-US" sz="1100" dirty="0" err="1">
                <a:solidFill>
                  <a:srgbClr val="2D2D3F"/>
                </a:solidFill>
              </a:rPr>
              <a:t>relacionadas</a:t>
            </a:r>
            <a:r>
              <a:rPr lang="en-US" sz="1100" dirty="0">
                <a:solidFill>
                  <a:srgbClr val="2D2D3F"/>
                </a:solidFill>
              </a:rPr>
              <a:t> com o virus 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F2DD6-DEC5-BD1D-EC1B-2B3D98581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87B7DDC-622D-CF84-3B33-CAE2B8F4082D}"/>
              </a:ext>
            </a:extLst>
          </p:cNvPr>
          <p:cNvSpPr txBox="1"/>
          <p:nvPr/>
        </p:nvSpPr>
        <p:spPr>
          <a:xfrm>
            <a:off x="640080" y="40444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2D2D3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Principais</a:t>
            </a:r>
            <a:r>
              <a:rPr lang="en-US" sz="3600" b="1" dirty="0">
                <a:solidFill>
                  <a:srgbClr val="2D2D3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</a:t>
            </a:r>
            <a:r>
              <a:rPr lang="en-US" sz="3600" b="1" dirty="0" err="1">
                <a:solidFill>
                  <a:srgbClr val="2D2D3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dúvidas</a:t>
            </a:r>
            <a:r>
              <a:rPr lang="en-US" sz="3600" b="1" dirty="0">
                <a:solidFill>
                  <a:srgbClr val="2D2D3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</a:t>
            </a:r>
            <a:r>
              <a:rPr lang="en-US" sz="3600" b="1" dirty="0" err="1">
                <a:solidFill>
                  <a:srgbClr val="2D2D3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sobre</a:t>
            </a:r>
            <a:r>
              <a:rPr lang="en-US" sz="3600" b="1" dirty="0">
                <a:solidFill>
                  <a:srgbClr val="2D2D3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o HPV: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018F1D-172B-DB48-EC31-C0554AF8C2FD}"/>
              </a:ext>
            </a:extLst>
          </p:cNvPr>
          <p:cNvSpPr/>
          <p:nvPr/>
        </p:nvSpPr>
        <p:spPr>
          <a:xfrm>
            <a:off x="640080" y="1371600"/>
            <a:ext cx="6696222" cy="822960"/>
          </a:xfrm>
          <a:prstGeom prst="roundRect">
            <a:avLst>
              <a:gd name="adj" fmla="val 16667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DA998C4-C8EB-1199-7093-3ACE18B33E1E}"/>
              </a:ext>
            </a:extLst>
          </p:cNvPr>
          <p:cNvSpPr/>
          <p:nvPr/>
        </p:nvSpPr>
        <p:spPr>
          <a:xfrm>
            <a:off x="822960" y="1600200"/>
            <a:ext cx="365760" cy="365760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0164555-9F17-3FA2-B296-5338A3A1CD37}"/>
              </a:ext>
            </a:extLst>
          </p:cNvPr>
          <p:cNvSpPr txBox="1"/>
          <p:nvPr/>
        </p:nvSpPr>
        <p:spPr>
          <a:xfrm>
            <a:off x="8229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7904817-C9B6-6040-1515-BAAA69233FE4}"/>
              </a:ext>
            </a:extLst>
          </p:cNvPr>
          <p:cNvSpPr txBox="1"/>
          <p:nvPr/>
        </p:nvSpPr>
        <p:spPr>
          <a:xfrm>
            <a:off x="1325879" y="1463040"/>
            <a:ext cx="44067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400" dirty="0"/>
              <a:t>Meu exame de HPV deu positivo. Vou ter câncer?</a:t>
            </a: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0E21BFF-1EBB-911D-1DBA-143F233ED683}"/>
              </a:ext>
            </a:extLst>
          </p:cNvPr>
          <p:cNvSpPr/>
          <p:nvPr/>
        </p:nvSpPr>
        <p:spPr>
          <a:xfrm>
            <a:off x="640080" y="2377440"/>
            <a:ext cx="6696222" cy="822960"/>
          </a:xfrm>
          <a:prstGeom prst="roundRect">
            <a:avLst>
              <a:gd name="adj" fmla="val 16667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3AD2EB2-1E0A-CD13-0A4D-6559480DBCEC}"/>
              </a:ext>
            </a:extLst>
          </p:cNvPr>
          <p:cNvSpPr/>
          <p:nvPr/>
        </p:nvSpPr>
        <p:spPr>
          <a:xfrm>
            <a:off x="822960" y="2606040"/>
            <a:ext cx="365760" cy="365760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84CC399-05E6-B95F-554C-F6D8D6108263}"/>
              </a:ext>
            </a:extLst>
          </p:cNvPr>
          <p:cNvSpPr txBox="1"/>
          <p:nvPr/>
        </p:nvSpPr>
        <p:spPr>
          <a:xfrm>
            <a:off x="82296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AF53942-81F8-E237-2411-EE8C97BC754B}"/>
              </a:ext>
            </a:extLst>
          </p:cNvPr>
          <p:cNvSpPr txBox="1"/>
          <p:nvPr/>
        </p:nvSpPr>
        <p:spPr>
          <a:xfrm>
            <a:off x="1325880" y="2468880"/>
            <a:ext cx="53703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400" dirty="0"/>
              <a:t>Meu HPV deu positivo. Isso significa que fui infectada recentemente?</a:t>
            </a:r>
            <a:endParaRPr lang="en-US" sz="1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E23EB87-81B7-7C3A-FBE2-0C9B0EB79AFE}"/>
              </a:ext>
            </a:extLst>
          </p:cNvPr>
          <p:cNvSpPr/>
          <p:nvPr/>
        </p:nvSpPr>
        <p:spPr>
          <a:xfrm>
            <a:off x="640080" y="3383280"/>
            <a:ext cx="6696222" cy="822960"/>
          </a:xfrm>
          <a:prstGeom prst="roundRect">
            <a:avLst>
              <a:gd name="adj" fmla="val 16667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662173E-89CD-05F8-476A-A2D968C77213}"/>
              </a:ext>
            </a:extLst>
          </p:cNvPr>
          <p:cNvSpPr/>
          <p:nvPr/>
        </p:nvSpPr>
        <p:spPr>
          <a:xfrm>
            <a:off x="822960" y="3611880"/>
            <a:ext cx="365760" cy="365760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AC9CA44-B2B8-6F60-A3BD-5B56C065793C}"/>
              </a:ext>
            </a:extLst>
          </p:cNvPr>
          <p:cNvSpPr txBox="1"/>
          <p:nvPr/>
        </p:nvSpPr>
        <p:spPr>
          <a:xfrm>
            <a:off x="8229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0E5FF93-6A9D-C6A1-47C6-29B3A45C5C19}"/>
              </a:ext>
            </a:extLst>
          </p:cNvPr>
          <p:cNvSpPr txBox="1"/>
          <p:nvPr/>
        </p:nvSpPr>
        <p:spPr>
          <a:xfrm>
            <a:off x="1325880" y="3474720"/>
            <a:ext cx="60104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400" dirty="0"/>
              <a:t>Posso tomar a vacina contra o HPV mesmo que já tenha tido resultado positivo?</a:t>
            </a:r>
            <a:endParaRPr lang="en-US" sz="1400" dirty="0"/>
          </a:p>
        </p:txBody>
      </p:sp>
      <p:sp>
        <p:nvSpPr>
          <p:cNvPr id="30" name="Slide Number Placeholder 0">
            <a:extLst>
              <a:ext uri="{FF2B5EF4-FFF2-40B4-BE49-F238E27FC236}">
                <a16:creationId xmlns:a16="http://schemas.microsoft.com/office/drawing/2014/main" id="{C43B6594-9E42-D28B-84FE-A2EA62433DB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BBBBB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105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3200400" cy="3200400"/>
          </a:xfrm>
          <a:prstGeom prst="ellipse">
            <a:avLst/>
          </a:prstGeom>
          <a:solidFill>
            <a:srgbClr val="7B20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7B20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Câncer</a:t>
            </a:r>
            <a:endParaRPr lang="en-US" sz="4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Colorretal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7B2C4"/>
                </a:solidFill>
              </a:rPr>
              <a:t>Rastreamento e Prevenção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2D3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Câncer Colorretal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12481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2040"/>
                </a:solidFill>
              </a:rPr>
              <a:t>Fatores de Risco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8282" y="2011768"/>
            <a:ext cx="109728" cy="109728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1051560" y="19249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F"/>
                </a:solidFill>
              </a:rPr>
              <a:t>Idade acima de 45 anos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2502" y="2288725"/>
            <a:ext cx="109728" cy="109728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1051560" y="21943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F"/>
                </a:solidFill>
              </a:rPr>
              <a:t>História familiar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2502" y="2539570"/>
            <a:ext cx="109728" cy="109728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1051560" y="246659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F"/>
                </a:solidFill>
              </a:rPr>
              <a:t>Dieta pobre em fibras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2502" y="2825408"/>
            <a:ext cx="109728" cy="109728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1051560" y="27388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F"/>
                </a:solidFill>
              </a:rPr>
              <a:t>Carne processada em excesso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4062" y="3090716"/>
            <a:ext cx="109728" cy="109728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1051560" y="3006969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F"/>
                </a:solidFill>
              </a:rPr>
              <a:t>Obesidade e sedentarismo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4062" y="3376554"/>
            <a:ext cx="109728" cy="109728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1051560" y="3292719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F"/>
                </a:solidFill>
              </a:rPr>
              <a:t>Tabagismo e álcool</a:t>
            </a:r>
            <a:endParaRPr lang="en-US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BBBBB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D57F4D7F-320A-FDCA-7A7F-8FF9D31793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308" t="19419" r="6000" b="36000"/>
          <a:stretch>
            <a:fillRect/>
          </a:stretch>
        </p:blipFill>
        <p:spPr>
          <a:xfrm>
            <a:off x="4827680" y="307555"/>
            <a:ext cx="3720905" cy="2293034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6DCE9B98-44F6-6711-9303-D0F28D747D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00" t="37607" r="51307" b="10974"/>
          <a:stretch>
            <a:fillRect/>
          </a:stretch>
        </p:blipFill>
        <p:spPr>
          <a:xfrm>
            <a:off x="5249839" y="2594434"/>
            <a:ext cx="3562641" cy="25322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0686C-DC2A-C7D6-7396-B35AEAF4F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E6D9FB-41A4-CC61-EF8A-41CB3D19574B}"/>
              </a:ext>
            </a:extLst>
          </p:cNvPr>
          <p:cNvSpPr txBox="1"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2D3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Câncer Colorretal</a:t>
            </a:r>
            <a:endParaRPr lang="en-US" sz="36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26FB94A-A894-7053-27D4-49D02F8D4A28}"/>
              </a:ext>
            </a:extLst>
          </p:cNvPr>
          <p:cNvSpPr txBox="1"/>
          <p:nvPr/>
        </p:nvSpPr>
        <p:spPr>
          <a:xfrm>
            <a:off x="640080" y="1174653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2040"/>
                </a:solidFill>
              </a:rPr>
              <a:t>Rastreamento</a:t>
            </a:r>
            <a:endParaRPr lang="en-US" sz="16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915036D-FC49-0516-B54E-5D8EDB91C20C}"/>
              </a:ext>
            </a:extLst>
          </p:cNvPr>
          <p:cNvSpPr/>
          <p:nvPr/>
        </p:nvSpPr>
        <p:spPr>
          <a:xfrm>
            <a:off x="640079" y="1777806"/>
            <a:ext cx="4698609" cy="960120"/>
          </a:xfrm>
          <a:prstGeom prst="roundRect">
            <a:avLst>
              <a:gd name="adj" fmla="val 14286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AC2BB49-F14E-CFDF-09B0-1B66727F662B}"/>
              </a:ext>
            </a:extLst>
          </p:cNvPr>
          <p:cNvSpPr txBox="1"/>
          <p:nvPr/>
        </p:nvSpPr>
        <p:spPr>
          <a:xfrm>
            <a:off x="777240" y="17760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2040"/>
                </a:solidFill>
              </a:rPr>
              <a:t>Colonoscopia</a:t>
            </a:r>
            <a:endParaRPr lang="en-US" sz="15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396FC75-E7B1-0685-85B8-518BCA18BD84}"/>
              </a:ext>
            </a:extLst>
          </p:cNvPr>
          <p:cNvSpPr txBox="1"/>
          <p:nvPr/>
        </p:nvSpPr>
        <p:spPr>
          <a:xfrm>
            <a:off x="777240" y="209784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3F"/>
                </a:solidFill>
              </a:rPr>
              <a:t>A partir dos 45 anos para todos.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3F"/>
                </a:solidFill>
              </a:rPr>
              <a:t>Antecipar se há história familiar.</a:t>
            </a:r>
            <a:endParaRPr lang="en-US" sz="12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67350A9-18BE-E1F5-BAFD-61ECD6F66BF1}"/>
              </a:ext>
            </a:extLst>
          </p:cNvPr>
          <p:cNvSpPr/>
          <p:nvPr/>
        </p:nvSpPr>
        <p:spPr>
          <a:xfrm>
            <a:off x="617220" y="2975319"/>
            <a:ext cx="3749040" cy="685800"/>
          </a:xfrm>
          <a:prstGeom prst="roundRect">
            <a:avLst>
              <a:gd name="adj" fmla="val 20000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891009D-E7DD-1607-DDE1-648A35B107A2}"/>
              </a:ext>
            </a:extLst>
          </p:cNvPr>
          <p:cNvSpPr txBox="1"/>
          <p:nvPr/>
        </p:nvSpPr>
        <p:spPr>
          <a:xfrm>
            <a:off x="777240" y="2975319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040"/>
                </a:solidFill>
              </a:rPr>
              <a:t>Sangue oculto nas fezes</a:t>
            </a:r>
            <a:endParaRPr lang="en-US" sz="13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655E9AE-D640-5A46-DB62-2A407A065198}"/>
              </a:ext>
            </a:extLst>
          </p:cNvPr>
          <p:cNvSpPr txBox="1"/>
          <p:nvPr/>
        </p:nvSpPr>
        <p:spPr>
          <a:xfrm>
            <a:off x="777240" y="325667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200" dirty="0"/>
              <a:t>50 a 75 anos, com repetição a cada dois anos</a:t>
            </a:r>
            <a:r>
              <a:rPr lang="en-US" sz="1200" dirty="0">
                <a:solidFill>
                  <a:srgbClr val="2D2D3F"/>
                </a:solidFill>
              </a:rPr>
              <a:t>.</a:t>
            </a:r>
            <a:endParaRPr lang="en-US" sz="1200" dirty="0"/>
          </a:p>
        </p:txBody>
      </p:sp>
      <p:sp>
        <p:nvSpPr>
          <p:cNvPr id="32" name="Slide Number Placeholder 0">
            <a:extLst>
              <a:ext uri="{FF2B5EF4-FFF2-40B4-BE49-F238E27FC236}">
                <a16:creationId xmlns:a16="http://schemas.microsoft.com/office/drawing/2014/main" id="{0F9AE92B-3A03-DA40-B551-C0AB828516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BBBBB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23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2D3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 Que Está ao Seu Alcance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</a:rPr>
              <a:t>Hábitos saudáveis que reduzem o risco de vários tipos de câncer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577340" y="1508760"/>
            <a:ext cx="685800" cy="685800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157734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2040"/>
                </a:solidFill>
              </a:rPr>
              <a:t>Atividade Física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3F"/>
                </a:solidFill>
              </a:rPr>
              <a:t>150 min/semana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3F"/>
                </a:solidFill>
              </a:rPr>
              <a:t>exercício moderado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37160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411980" y="1508760"/>
            <a:ext cx="685800" cy="685800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41198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2040"/>
                </a:solidFill>
              </a:rPr>
              <a:t>Alimentação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3F"/>
                </a:solidFill>
              </a:rPr>
              <a:t>Frutas, vegetais e fibras;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3F"/>
                </a:solidFill>
              </a:rPr>
              <a:t>menos ultraprocessados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246620" y="1508760"/>
            <a:ext cx="685800" cy="685800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724662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2040"/>
                </a:solidFill>
              </a:rPr>
              <a:t>Peso Saudável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3F"/>
                </a:solidFill>
              </a:rPr>
              <a:t>IMC adequado reduz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3F"/>
                </a:solidFill>
              </a:rPr>
              <a:t>o risco significativamente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06324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577340" y="3200400"/>
            <a:ext cx="685800" cy="685800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1577340" y="3200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2040"/>
                </a:solidFill>
              </a:rPr>
              <a:t>Sem Álcool e Tabaco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3F"/>
                </a:solidFill>
              </a:rPr>
              <a:t>Aumentam o risco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3F"/>
                </a:solidFill>
              </a:rPr>
              <a:t>de vários cânceres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306324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411980" y="3200400"/>
            <a:ext cx="685800" cy="685800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4411980" y="3200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361188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2040"/>
                </a:solidFill>
              </a:rPr>
              <a:t>Exames em Dia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61188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3F"/>
                </a:solidFill>
              </a:rPr>
              <a:t>Mamografia, preventivo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3F"/>
                </a:solidFill>
              </a:rPr>
              <a:t>e colonoscopia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306324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FF0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7246620" y="3200400"/>
            <a:ext cx="685800" cy="685800"/>
          </a:xfrm>
          <a:prstGeom prst="ellipse">
            <a:avLst/>
          </a:prstGeom>
          <a:solidFill>
            <a:srgbClr val="D456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 txBox="1"/>
          <p:nvPr/>
        </p:nvSpPr>
        <p:spPr>
          <a:xfrm>
            <a:off x="7246620" y="3200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2040"/>
                </a:solidFill>
              </a:rPr>
              <a:t>Vacinação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2D2D3F"/>
                </a:solidFill>
              </a:rPr>
              <a:t>Vacinação</a:t>
            </a:r>
            <a:r>
              <a:rPr lang="en-US" sz="1000" dirty="0">
                <a:solidFill>
                  <a:srgbClr val="2D2D3F"/>
                </a:solidFill>
              </a:rPr>
              <a:t> contra HPV </a:t>
            </a:r>
            <a:r>
              <a:rPr lang="en-US" sz="1000" dirty="0" err="1">
                <a:solidFill>
                  <a:srgbClr val="2D2D3F"/>
                </a:solidFill>
              </a:rPr>
              <a:t>disponível</a:t>
            </a:r>
            <a:r>
              <a:rPr lang="en-US" sz="1000" dirty="0">
                <a:solidFill>
                  <a:srgbClr val="2D2D3F"/>
                </a:solidFill>
              </a:rPr>
              <a:t> para </a:t>
            </a:r>
            <a:r>
              <a:rPr lang="en-US" sz="1000" dirty="0" err="1">
                <a:solidFill>
                  <a:srgbClr val="2D2D3F"/>
                </a:solidFill>
              </a:rPr>
              <a:t>pessoas</a:t>
            </a:r>
            <a:r>
              <a:rPr lang="en-US" sz="1000" dirty="0">
                <a:solidFill>
                  <a:srgbClr val="2D2D3F"/>
                </a:solidFill>
              </a:rPr>
              <a:t> de 9 -45 </a:t>
            </a:r>
            <a:r>
              <a:rPr lang="en-US" sz="1000" dirty="0" err="1">
                <a:solidFill>
                  <a:srgbClr val="2D2D3F"/>
                </a:solidFill>
              </a:rPr>
              <a:t>anos</a:t>
            </a:r>
            <a:endParaRPr lang="en-US" sz="10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BBBBB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86342" y="-755054"/>
            <a:ext cx="4114800" cy="4114800"/>
          </a:xfrm>
          <a:prstGeom prst="ellipse">
            <a:avLst/>
          </a:prstGeom>
          <a:solidFill>
            <a:srgbClr val="7B20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102800" y="3316486"/>
            <a:ext cx="2743200" cy="2743200"/>
          </a:xfrm>
          <a:prstGeom prst="ellipse">
            <a:avLst/>
          </a:prstGeom>
          <a:solidFill>
            <a:srgbClr val="7B20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1016196" y="2977842"/>
            <a:ext cx="2286000" cy="2286000"/>
          </a:xfrm>
          <a:prstGeom prst="ellipse">
            <a:avLst/>
          </a:prstGeom>
          <a:solidFill>
            <a:srgbClr val="6B1A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1574714" y="956668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prevenção</a:t>
            </a:r>
            <a:endParaRPr lang="en-US" sz="4400" dirty="0"/>
          </a:p>
          <a:p>
            <a:pPr marL="0" indent="0" algn="r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salva vidas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232314" y="232200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7B2C4"/>
                </a:solidFill>
              </a:rPr>
              <a:t>Cuide-se. Faça seus exames.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7B2C4"/>
                </a:solidFill>
              </a:rPr>
              <a:t>Converse com </a:t>
            </a:r>
            <a:r>
              <a:rPr lang="en-US" sz="1800" dirty="0" err="1">
                <a:solidFill>
                  <a:srgbClr val="F7B2C4"/>
                </a:solidFill>
              </a:rPr>
              <a:t>sua</a:t>
            </a:r>
            <a:r>
              <a:rPr lang="en-US" sz="1800" dirty="0">
                <a:solidFill>
                  <a:srgbClr val="F7B2C4"/>
                </a:solidFill>
              </a:rPr>
              <a:t> </a:t>
            </a:r>
            <a:r>
              <a:rPr lang="en-US" sz="1800" dirty="0" err="1">
                <a:solidFill>
                  <a:srgbClr val="F7B2C4"/>
                </a:solidFill>
              </a:rPr>
              <a:t>médica</a:t>
            </a:r>
            <a:r>
              <a:rPr lang="en-US" sz="1800" dirty="0">
                <a:solidFill>
                  <a:srgbClr val="F7B2C4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3775" y="37622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Dra. Ana Carolina Montes Ribeiro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13775" y="41466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B2C4"/>
                </a:solidFill>
              </a:rPr>
              <a:t>Médica Ginecologista e </a:t>
            </a:r>
            <a:r>
              <a:rPr lang="en-US" sz="1100" dirty="0" err="1">
                <a:solidFill>
                  <a:srgbClr val="F7B2C4"/>
                </a:solidFill>
              </a:rPr>
              <a:t>Obstetra</a:t>
            </a:r>
            <a:endParaRPr lang="en-US" sz="1100" dirty="0">
              <a:solidFill>
                <a:srgbClr val="F7B2C4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7B2C4"/>
                </a:solidFill>
              </a:rPr>
              <a:t>CRM-DF 29.445  | RQE 24.639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882430" y="318977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567A"/>
                </a:solidFill>
              </a:rPr>
              <a:t>Obrigada!</a:t>
            </a:r>
            <a:endParaRPr lang="en-US" sz="22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8625AC9-4433-9CBB-9E8A-FF1E724CF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78806" y="811880"/>
            <a:ext cx="3216855" cy="2416051"/>
          </a:xfrm>
          <a:prstGeom prst="flowChartConnector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B3AD6E5-6818-A003-FDE3-07DC141ED6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14" t="23555" r="17556" b="37111"/>
          <a:stretch>
            <a:fillRect/>
          </a:stretch>
        </p:blipFill>
        <p:spPr>
          <a:xfrm>
            <a:off x="217734" y="3712656"/>
            <a:ext cx="1124055" cy="11880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utubro Rosa">
  <a:themeElements>
    <a:clrScheme name="Outubro Rosa">
      <a:dk1>
        <a:srgbClr val="2D2D3F"/>
      </a:dk1>
      <a:lt1>
        <a:srgbClr val="FFFFFF"/>
      </a:lt1>
      <a:dk2>
        <a:srgbClr val="7B2040"/>
      </a:dk2>
      <a:lt2>
        <a:srgbClr val="FFF0F3"/>
      </a:lt2>
      <a:accent1>
        <a:srgbClr val="D4567A"/>
      </a:accent1>
      <a:accent2>
        <a:srgbClr val="7B2040"/>
      </a:accent2>
      <a:accent3>
        <a:srgbClr val="F7B2C4"/>
      </a:accent3>
      <a:accent4>
        <a:srgbClr val="2D2D3F"/>
      </a:accent4>
      <a:accent5>
        <a:srgbClr val="E8879B"/>
      </a:accent5>
      <a:accent6>
        <a:srgbClr val="5A1830"/>
      </a:accent6>
      <a:hlink>
        <a:srgbClr val="D4567A"/>
      </a:hlink>
      <a:folHlink>
        <a:srgbClr val="7B2040"/>
      </a:folHlink>
    </a:clrScheme>
    <a:fontScheme name="Outubro Ros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745</Words>
  <Application>Microsoft Office PowerPoint</Application>
  <PresentationFormat>Apresentação na tela (16:9)</PresentationFormat>
  <Paragraphs>172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Outubro Rosa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Dra. Ana Carolina Ribeiro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Outubro Rosa 2026</dc:title>
  <dc:subject>Prevenção e Detecção Precoce do Câncer</dc:subject>
  <dc:creator>Dra. Ana Carolina Ribeiro</dc:creator>
  <cp:lastModifiedBy>Ana Carolina Montes Ribeiro</cp:lastModifiedBy>
  <cp:revision>13</cp:revision>
  <dcterms:created xsi:type="dcterms:W3CDTF">2026-10-28T15:46:41Z</dcterms:created>
  <dcterms:modified xsi:type="dcterms:W3CDTF">2026-10-28T19:39:45Z</dcterms:modified>
</cp:coreProperties>
</file>