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5516552-AC7B-A0BA-C1D7-A85910432BD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722100" y="63500"/>
            <a:ext cx="434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Restrito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4B5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2880" y="1181121"/>
            <a:ext cx="1920240" cy="1920240"/>
          </a:xfrm>
          <a:prstGeom prst="ellipse">
            <a:avLst/>
          </a:prstGeom>
          <a:solidFill>
            <a:srgbClr val="9AA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61942" y="653796"/>
            <a:ext cx="385374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b="1" i="0" dirty="0">
                <a:solidFill>
                  <a:srgbClr val="9AA087"/>
                </a:solidFill>
                <a:latin typeface="Aptos"/>
              </a:rPr>
              <a:t>AUTOCUIDADO • SAÚDE DA MULHER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6869829" cy="17491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pt-BR" sz="3400" b="1" dirty="0">
                <a:solidFill>
                  <a:srgbClr val="4B5938"/>
                </a:solidFill>
                <a:latin typeface="Aptos"/>
              </a:rPr>
              <a:t>T</a:t>
            </a:r>
            <a:r>
              <a:rPr sz="3400" b="1" i="0" dirty="0" err="1">
                <a:solidFill>
                  <a:srgbClr val="4B5938"/>
                </a:solidFill>
                <a:latin typeface="Aptos"/>
              </a:rPr>
              <a:t>erreno</a:t>
            </a:r>
            <a:r>
              <a:rPr sz="3400" b="1" i="0" dirty="0">
                <a:solidFill>
                  <a:srgbClr val="4B5938"/>
                </a:solidFill>
                <a:latin typeface="Aptos"/>
              </a:rPr>
              <a:t> </a:t>
            </a:r>
            <a:r>
              <a:rPr lang="pt-BR" sz="3400" b="1" dirty="0">
                <a:solidFill>
                  <a:srgbClr val="4B5938"/>
                </a:solidFill>
                <a:latin typeface="Aptos"/>
              </a:rPr>
              <a:t>B</a:t>
            </a:r>
            <a:r>
              <a:rPr sz="3400" b="1" i="0" dirty="0" err="1">
                <a:solidFill>
                  <a:srgbClr val="4B5938"/>
                </a:solidFill>
                <a:latin typeface="Aptos"/>
              </a:rPr>
              <a:t>iológico</a:t>
            </a:r>
            <a:r>
              <a:rPr lang="pt-BR" sz="3400" b="1" dirty="0">
                <a:solidFill>
                  <a:srgbClr val="4B5938"/>
                </a:solidFill>
                <a:latin typeface="Aptos"/>
              </a:rPr>
              <a:t>,</a:t>
            </a:r>
            <a:endParaRPr lang="pt-BR" sz="3400" b="1" i="0" dirty="0">
              <a:solidFill>
                <a:srgbClr val="4B5938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lang="pt-BR" sz="3400" b="1" dirty="0">
                <a:solidFill>
                  <a:srgbClr val="4B5938"/>
                </a:solidFill>
                <a:latin typeface="Aptos"/>
              </a:rPr>
              <a:t> Saúde Integrativa e Ortomolecular</a:t>
            </a:r>
          </a:p>
          <a:p>
            <a:pPr algn="l">
              <a:spcAft>
                <a:spcPts val="700"/>
              </a:spcAft>
            </a:pPr>
            <a:endParaRPr sz="3400" b="1" i="0" dirty="0">
              <a:solidFill>
                <a:srgbClr val="4B593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8211" y="3934706"/>
            <a:ext cx="615495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400" b="0" i="1" dirty="0">
                <a:solidFill>
                  <a:srgbClr val="373D2F"/>
                </a:solidFill>
                <a:latin typeface="Aptos"/>
              </a:rPr>
              <a:t>Um </a:t>
            </a:r>
            <a:r>
              <a:rPr sz="2400" b="0" i="1" dirty="0" err="1">
                <a:solidFill>
                  <a:srgbClr val="373D2F"/>
                </a:solidFill>
                <a:latin typeface="Aptos"/>
              </a:rPr>
              <a:t>olhar</a:t>
            </a:r>
            <a:r>
              <a:rPr sz="2400" b="0" i="1" dirty="0">
                <a:solidFill>
                  <a:srgbClr val="373D2F"/>
                </a:solidFill>
                <a:latin typeface="Aptos"/>
              </a:rPr>
              <a:t> gentil para </a:t>
            </a:r>
            <a:r>
              <a:rPr sz="2400" b="0" i="1" dirty="0" err="1">
                <a:solidFill>
                  <a:srgbClr val="373D2F"/>
                </a:solidFill>
                <a:latin typeface="Aptos"/>
              </a:rPr>
              <a:t>cuidar</a:t>
            </a:r>
            <a:r>
              <a:rPr sz="2400" b="0" i="1" dirty="0">
                <a:solidFill>
                  <a:srgbClr val="373D2F"/>
                </a:solidFill>
                <a:latin typeface="Aptos"/>
              </a:rPr>
              <a:t> de </a:t>
            </a:r>
            <a:r>
              <a:rPr sz="2400" b="0" i="1" dirty="0" err="1">
                <a:solidFill>
                  <a:srgbClr val="373D2F"/>
                </a:solidFill>
                <a:latin typeface="Aptos"/>
              </a:rPr>
              <a:t>você</a:t>
            </a:r>
            <a:r>
              <a:rPr sz="2400" b="0" i="1" dirty="0">
                <a:solidFill>
                  <a:srgbClr val="373D2F"/>
                </a:solidFill>
                <a:latin typeface="Aptos"/>
              </a:rPr>
              <a:t> </a:t>
            </a:r>
            <a:r>
              <a:rPr sz="2400" b="0" i="1" dirty="0" err="1">
                <a:solidFill>
                  <a:srgbClr val="373D2F"/>
                </a:solidFill>
                <a:latin typeface="Aptos"/>
              </a:rPr>
              <a:t>por</a:t>
            </a:r>
            <a:r>
              <a:rPr sz="2400" b="0" i="1" dirty="0">
                <a:solidFill>
                  <a:srgbClr val="373D2F"/>
                </a:solidFill>
                <a:latin typeface="Aptos"/>
              </a:rPr>
              <a:t> </a:t>
            </a:r>
            <a:r>
              <a:rPr sz="2400" b="0" i="1" dirty="0" err="1">
                <a:solidFill>
                  <a:srgbClr val="373D2F"/>
                </a:solidFill>
                <a:latin typeface="Aptos"/>
              </a:rPr>
              <a:t>inteiro</a:t>
            </a:r>
            <a:r>
              <a:rPr sz="2000" b="0" i="1" dirty="0">
                <a:solidFill>
                  <a:srgbClr val="373D2F"/>
                </a:solidFill>
                <a:latin typeface="Aptos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632024"/>
            <a:ext cx="914400" cy="54864"/>
          </a:xfrm>
          <a:prstGeom prst="rect">
            <a:avLst/>
          </a:prstGeom>
          <a:solidFill>
            <a:srgbClr val="BE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783070"/>
            <a:ext cx="3977640" cy="612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 dirty="0">
                <a:solidFill>
                  <a:srgbClr val="4B5938"/>
                </a:solidFill>
                <a:latin typeface="Aptos"/>
              </a:rPr>
              <a:t>Graziela Pinheiro</a:t>
            </a:r>
          </a:p>
          <a:p>
            <a:pPr algn="l">
              <a:spcAft>
                <a:spcPts val="700"/>
              </a:spcAft>
            </a:pPr>
            <a:r>
              <a:rPr sz="1700" b="1" i="0" dirty="0" err="1">
                <a:solidFill>
                  <a:srgbClr val="4B5938"/>
                </a:solidFill>
                <a:latin typeface="Aptos"/>
              </a:rPr>
              <a:t>Enfermeira</a:t>
            </a:r>
            <a:r>
              <a:rPr lang="pt-BR" sz="1700" b="1" dirty="0">
                <a:solidFill>
                  <a:srgbClr val="4B5938"/>
                </a:solidFill>
                <a:latin typeface="Aptos"/>
              </a:rPr>
              <a:t> - Coren DF 620579</a:t>
            </a:r>
            <a:endParaRPr sz="1700" b="1" i="0" dirty="0">
              <a:solidFill>
                <a:srgbClr val="4B593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79408" y="6263640"/>
            <a:ext cx="2743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900" b="1" i="0">
                <a:solidFill>
                  <a:srgbClr val="F8F6EF"/>
                </a:solidFill>
                <a:latin typeface="Aptos"/>
              </a:rPr>
              <a:t>CIÊNCIA  •  ESCUTA  •  CUIDADO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8E27B44-F741-CCB8-7704-DC79A6665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863" y="0"/>
            <a:ext cx="38703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320594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b="1" i="0" dirty="0">
                <a:solidFill>
                  <a:srgbClr val="9AA087"/>
                </a:solidFill>
                <a:latin typeface="Aptos"/>
              </a:rPr>
              <a:t>ENTENDENDO SEU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98755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 i="0" dirty="0">
                <a:solidFill>
                  <a:srgbClr val="4B5938"/>
                </a:solidFill>
                <a:latin typeface="Aptos"/>
              </a:rPr>
              <a:t>O </a:t>
            </a:r>
            <a:r>
              <a:rPr sz="3000" b="1" i="0" dirty="0" err="1">
                <a:solidFill>
                  <a:srgbClr val="4B5938"/>
                </a:solidFill>
                <a:latin typeface="Aptos"/>
              </a:rPr>
              <a:t>que</a:t>
            </a:r>
            <a:r>
              <a:rPr sz="3000" b="1" i="0" dirty="0">
                <a:solidFill>
                  <a:srgbClr val="4B5938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4B5938"/>
                </a:solidFill>
                <a:latin typeface="Aptos"/>
              </a:rPr>
              <a:t>chamamos</a:t>
            </a:r>
            <a:r>
              <a:rPr sz="3000" b="1" i="0" dirty="0">
                <a:solidFill>
                  <a:srgbClr val="4B5938"/>
                </a:solidFill>
                <a:latin typeface="Aptos"/>
              </a:rPr>
              <a:t> de “</a:t>
            </a:r>
            <a:r>
              <a:rPr sz="3000" b="1" i="0" dirty="0" err="1">
                <a:solidFill>
                  <a:srgbClr val="4B5938"/>
                </a:solidFill>
                <a:latin typeface="Aptos"/>
              </a:rPr>
              <a:t>terreno</a:t>
            </a:r>
            <a:r>
              <a:rPr sz="3000" b="1" i="0" dirty="0">
                <a:solidFill>
                  <a:srgbClr val="4B5938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4B5938"/>
                </a:solidFill>
                <a:latin typeface="Aptos"/>
              </a:rPr>
              <a:t>biológico</a:t>
            </a:r>
            <a:r>
              <a:rPr sz="3000" b="1" i="0" dirty="0">
                <a:solidFill>
                  <a:srgbClr val="4B5938"/>
                </a:solidFill>
                <a:latin typeface="Aptos"/>
              </a:rPr>
              <a:t>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26464"/>
            <a:ext cx="1091482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dirty="0"/>
              <a:t>O terreno biológico é uma expressão utilizada para falar das condições internas e externas que influenciam o </a:t>
            </a:r>
          </a:p>
          <a:p>
            <a:r>
              <a:rPr lang="pt-BR" dirty="0"/>
              <a:t>funcionamento do nosso organismo.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240280"/>
            <a:ext cx="4800600" cy="3246120"/>
          </a:xfrm>
          <a:prstGeom prst="roundRect">
            <a:avLst/>
          </a:prstGeom>
          <a:solidFill>
            <a:srgbClr val="4B5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406908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Seu corpo não vive isolado.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3768211" cy="1377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 i="0" dirty="0">
                <a:solidFill>
                  <a:srgbClr val="F8F6EF"/>
                </a:solidFill>
                <a:latin typeface="Aptos"/>
              </a:rPr>
              <a:t>Sono, </a:t>
            </a:r>
            <a:r>
              <a:rPr sz="1800" b="0" i="0" dirty="0" err="1">
                <a:solidFill>
                  <a:srgbClr val="F8F6EF"/>
                </a:solidFill>
                <a:latin typeface="Aptos"/>
              </a:rPr>
              <a:t>alimentação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, </a:t>
            </a:r>
            <a:r>
              <a:rPr sz="1800" b="0" i="0" dirty="0" err="1">
                <a:solidFill>
                  <a:srgbClr val="F8F6EF"/>
                </a:solidFill>
                <a:latin typeface="Aptos"/>
              </a:rPr>
              <a:t>atividade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F8F6EF"/>
                </a:solidFill>
                <a:latin typeface="Aptos"/>
              </a:rPr>
              <a:t>física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,</a:t>
            </a:r>
            <a:r>
              <a:rPr lang="pt-BR" sz="1800" b="0" i="0" dirty="0">
                <a:solidFill>
                  <a:srgbClr val="F8F6EF"/>
                </a:solidFill>
                <a:latin typeface="Aptos"/>
              </a:rPr>
              <a:t> </a:t>
            </a:r>
          </a:p>
          <a:p>
            <a:pPr algn="l">
              <a:spcAft>
                <a:spcPts val="700"/>
              </a:spcAft>
            </a:pPr>
            <a:r>
              <a:rPr sz="1800" b="0" i="0" dirty="0">
                <a:solidFill>
                  <a:srgbClr val="F8F6EF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F8F6EF"/>
                </a:solidFill>
                <a:latin typeface="Aptos"/>
              </a:rPr>
              <a:t>hormônios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, </a:t>
            </a:r>
            <a:r>
              <a:rPr sz="1800" b="0" i="0" dirty="0" err="1">
                <a:solidFill>
                  <a:srgbClr val="F8F6EF"/>
                </a:solidFill>
                <a:latin typeface="Aptos"/>
              </a:rPr>
              <a:t>doenças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, </a:t>
            </a:r>
            <a:r>
              <a:rPr sz="1800" b="0" i="0" dirty="0" err="1">
                <a:solidFill>
                  <a:srgbClr val="F8F6EF"/>
                </a:solidFill>
                <a:latin typeface="Aptos"/>
              </a:rPr>
              <a:t>medicamentos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,</a:t>
            </a:r>
            <a:endParaRPr lang="pt-BR" sz="1800" b="0" i="0" dirty="0">
              <a:solidFill>
                <a:srgbClr val="F8F6EF"/>
              </a:solidFill>
              <a:latin typeface="Aptos"/>
            </a:endParaRPr>
          </a:p>
          <a:p>
            <a:pPr algn="l">
              <a:spcAft>
                <a:spcPts val="700"/>
              </a:spcAft>
            </a:pPr>
            <a:r>
              <a:rPr sz="1800" b="0" i="0" dirty="0" err="1">
                <a:solidFill>
                  <a:srgbClr val="F8F6EF"/>
                </a:solidFill>
                <a:latin typeface="Aptos"/>
              </a:rPr>
              <a:t>ambiente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 e </a:t>
            </a:r>
            <a:r>
              <a:rPr sz="1800" b="0" i="0" dirty="0" err="1">
                <a:solidFill>
                  <a:srgbClr val="F8F6EF"/>
                </a:solidFill>
                <a:latin typeface="Aptos"/>
              </a:rPr>
              <a:t>estresse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F8F6EF"/>
                </a:solidFill>
                <a:latin typeface="Aptos"/>
              </a:rPr>
              <a:t>interagem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 entre </a:t>
            </a:r>
            <a:endParaRPr lang="pt-BR" sz="1800" b="0" i="0" dirty="0">
              <a:solidFill>
                <a:srgbClr val="F8F6EF"/>
              </a:solidFill>
              <a:latin typeface="Aptos"/>
            </a:endParaRPr>
          </a:p>
          <a:p>
            <a:pPr algn="l">
              <a:spcAft>
                <a:spcPts val="700"/>
              </a:spcAft>
            </a:pPr>
            <a:r>
              <a:rPr sz="1800" b="0" i="0" dirty="0" err="1">
                <a:solidFill>
                  <a:srgbClr val="F8F6EF"/>
                </a:solidFill>
                <a:latin typeface="Aptos"/>
              </a:rPr>
              <a:t>si</a:t>
            </a:r>
            <a:r>
              <a:rPr sz="1800" b="0" i="0" dirty="0">
                <a:solidFill>
                  <a:srgbClr val="F8F6EF"/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331720"/>
            <a:ext cx="49377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 i="0" dirty="0">
                <a:solidFill>
                  <a:srgbClr val="4B5938"/>
                </a:solidFill>
                <a:latin typeface="Aptos"/>
              </a:rPr>
              <a:t>O </a:t>
            </a:r>
            <a:r>
              <a:rPr sz="1900" b="1" i="0" dirty="0" err="1">
                <a:solidFill>
                  <a:srgbClr val="4B5938"/>
                </a:solidFill>
                <a:latin typeface="Aptos"/>
              </a:rPr>
              <a:t>que</a:t>
            </a:r>
            <a:r>
              <a:rPr sz="1900" b="1" i="0" dirty="0">
                <a:solidFill>
                  <a:srgbClr val="4B5938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4B5938"/>
                </a:solidFill>
                <a:latin typeface="Aptos"/>
              </a:rPr>
              <a:t>observar</a:t>
            </a:r>
            <a:r>
              <a:rPr sz="1900" b="1" i="0" dirty="0">
                <a:solidFill>
                  <a:srgbClr val="4B5938"/>
                </a:solidFill>
                <a:latin typeface="Aptos"/>
              </a:rPr>
              <a:t> no </a:t>
            </a:r>
            <a:r>
              <a:rPr sz="1900" b="1" i="0" dirty="0" err="1">
                <a:solidFill>
                  <a:srgbClr val="4B5938"/>
                </a:solidFill>
                <a:latin typeface="Aptos"/>
              </a:rPr>
              <a:t>dia</a:t>
            </a:r>
            <a:r>
              <a:rPr sz="1900" b="1" i="0" dirty="0">
                <a:solidFill>
                  <a:srgbClr val="4B5938"/>
                </a:solidFill>
                <a:latin typeface="Aptos"/>
              </a:rPr>
              <a:t> a </a:t>
            </a:r>
            <a:r>
              <a:rPr sz="1900" b="1" i="0" dirty="0" err="1">
                <a:solidFill>
                  <a:srgbClr val="4B5938"/>
                </a:solidFill>
                <a:latin typeface="Aptos"/>
              </a:rPr>
              <a:t>dia</a:t>
            </a:r>
            <a:endParaRPr sz="1900" b="1" i="0" dirty="0">
              <a:solidFill>
                <a:srgbClr val="4B593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80760" y="2880360"/>
            <a:ext cx="5120640" cy="1627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373D2F"/>
                </a:solidFill>
                <a:latin typeface="Aptos"/>
              </a:defRPr>
            </a:pPr>
            <a:r>
              <a:rPr dirty="0"/>
              <a:t>•  Energia, </a:t>
            </a:r>
            <a:r>
              <a:rPr dirty="0" err="1"/>
              <a:t>sono</a:t>
            </a:r>
            <a:r>
              <a:rPr dirty="0"/>
              <a:t> e </a:t>
            </a:r>
            <a:r>
              <a:rPr dirty="0" err="1"/>
              <a:t>disposição</a:t>
            </a:r>
            <a:r>
              <a:rPr lang="pt-BR" dirty="0"/>
              <a:t>;</a:t>
            </a:r>
            <a:endParaRPr dirty="0"/>
          </a:p>
          <a:p>
            <a:pPr>
              <a:spcAft>
                <a:spcPts val="700"/>
              </a:spcAft>
              <a:defRPr sz="1600">
                <a:solidFill>
                  <a:srgbClr val="373D2F"/>
                </a:solidFill>
                <a:latin typeface="Aptos"/>
              </a:defRPr>
            </a:pPr>
            <a:r>
              <a:rPr dirty="0"/>
              <a:t>•  Ciclo menstrual e </a:t>
            </a:r>
            <a:r>
              <a:rPr dirty="0" err="1"/>
              <a:t>mudanças</a:t>
            </a:r>
            <a:r>
              <a:rPr dirty="0"/>
              <a:t> </a:t>
            </a:r>
            <a:r>
              <a:rPr dirty="0" err="1"/>
              <a:t>persistentes</a:t>
            </a:r>
            <a:r>
              <a:rPr lang="pt-BR" dirty="0"/>
              <a:t>;</a:t>
            </a:r>
            <a:endParaRPr dirty="0"/>
          </a:p>
          <a:p>
            <a:pPr>
              <a:spcAft>
                <a:spcPts val="700"/>
              </a:spcAft>
              <a:defRPr sz="1600">
                <a:solidFill>
                  <a:srgbClr val="373D2F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Digestão</a:t>
            </a:r>
            <a:r>
              <a:rPr dirty="0"/>
              <a:t>, </a:t>
            </a:r>
            <a:r>
              <a:rPr dirty="0" err="1"/>
              <a:t>apetite</a:t>
            </a:r>
            <a:r>
              <a:rPr dirty="0"/>
              <a:t> e </a:t>
            </a:r>
            <a:r>
              <a:rPr dirty="0" err="1"/>
              <a:t>relação</a:t>
            </a:r>
            <a:r>
              <a:rPr dirty="0"/>
              <a:t> com a comida</a:t>
            </a:r>
            <a:r>
              <a:rPr lang="pt-BR" dirty="0"/>
              <a:t>;</a:t>
            </a:r>
            <a:endParaRPr dirty="0"/>
          </a:p>
          <a:p>
            <a:pPr>
              <a:spcAft>
                <a:spcPts val="700"/>
              </a:spcAft>
              <a:defRPr sz="1600">
                <a:solidFill>
                  <a:srgbClr val="373D2F"/>
                </a:solidFill>
                <a:latin typeface="Aptos"/>
              </a:defRPr>
            </a:pPr>
            <a:r>
              <a:rPr dirty="0"/>
              <a:t>•  Humor, </a:t>
            </a:r>
            <a:r>
              <a:rPr dirty="0" err="1"/>
              <a:t>estresse</a:t>
            </a:r>
            <a:r>
              <a:rPr dirty="0"/>
              <a:t> e </a:t>
            </a:r>
            <a:r>
              <a:rPr dirty="0" err="1"/>
              <a:t>sensação</a:t>
            </a:r>
            <a:r>
              <a:rPr dirty="0"/>
              <a:t> de </a:t>
            </a:r>
            <a:r>
              <a:rPr dirty="0" err="1"/>
              <a:t>sobrecarga</a:t>
            </a:r>
            <a:r>
              <a:rPr lang="pt-BR" dirty="0"/>
              <a:t>;</a:t>
            </a:r>
            <a:endParaRPr dirty="0"/>
          </a:p>
          <a:p>
            <a:pPr>
              <a:spcAft>
                <a:spcPts val="700"/>
              </a:spcAft>
              <a:defRPr sz="1600">
                <a:solidFill>
                  <a:srgbClr val="373D2F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Exames</a:t>
            </a:r>
            <a:r>
              <a:rPr dirty="0"/>
              <a:t> e histórico </a:t>
            </a:r>
            <a:r>
              <a:rPr dirty="0" err="1"/>
              <a:t>avaliados</a:t>
            </a:r>
            <a:r>
              <a:rPr dirty="0"/>
              <a:t> com </a:t>
            </a:r>
            <a:r>
              <a:rPr dirty="0" err="1"/>
              <a:t>profissional</a:t>
            </a:r>
            <a:r>
              <a:rPr lang="pt-BR" dirty="0"/>
              <a:t>.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09595" y="5713654"/>
            <a:ext cx="11333552" cy="551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sz="1500" b="0" i="1" dirty="0">
                <a:solidFill>
                  <a:srgbClr val="696F5D"/>
                </a:solidFill>
                <a:latin typeface="Aptos"/>
              </a:rPr>
              <a:t>Vale lembrar: o termo terreno biológico não é um diagnóstico médico nem significa que todas as doenças possam ser prevenidas apenas </a:t>
            </a:r>
          </a:p>
          <a:p>
            <a:pPr algn="l">
              <a:spcAft>
                <a:spcPts val="700"/>
              </a:spcAft>
            </a:pPr>
            <a:r>
              <a:rPr lang="pt-BR" sz="1500" b="0" i="1" dirty="0">
                <a:solidFill>
                  <a:srgbClr val="696F5D"/>
                </a:solidFill>
                <a:latin typeface="Aptos"/>
              </a:rPr>
              <a:t>com mudanças de hábitos</a:t>
            </a:r>
            <a:r>
              <a:rPr sz="1500" b="0" i="1" dirty="0">
                <a:solidFill>
                  <a:srgbClr val="696F5D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 i="0">
                <a:solidFill>
                  <a:srgbClr val="4B5938"/>
                </a:solidFill>
                <a:latin typeface="Aptos"/>
              </a:rPr>
              <a:t>GRAZIELA PINHEIRO  •  ENFERMEIRA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85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 i="0">
                <a:solidFill>
                  <a:srgbClr val="696F5D"/>
                </a:solidFill>
                <a:latin typeface="Aptos"/>
              </a:rPr>
              <a:t>03  / 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83473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 dirty="0">
                <a:solidFill>
                  <a:srgbClr val="9AA087"/>
                </a:solidFill>
                <a:latin typeface="Aptos"/>
              </a:rPr>
              <a:t>O OLHAR INTEGRAL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98755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 i="0" dirty="0">
                <a:solidFill>
                  <a:srgbClr val="4B5938"/>
                </a:solidFill>
                <a:latin typeface="Aptos"/>
              </a:rPr>
              <a:t>O </a:t>
            </a:r>
            <a:r>
              <a:rPr sz="3000" b="1" i="0" dirty="0" err="1">
                <a:solidFill>
                  <a:srgbClr val="4B5938"/>
                </a:solidFill>
                <a:latin typeface="Aptos"/>
              </a:rPr>
              <a:t>que</a:t>
            </a:r>
            <a:r>
              <a:rPr sz="3000" b="1" i="0" dirty="0">
                <a:solidFill>
                  <a:srgbClr val="4B5938"/>
                </a:solidFill>
                <a:latin typeface="Aptos"/>
              </a:rPr>
              <a:t> é </a:t>
            </a:r>
            <a:r>
              <a:rPr sz="3000" b="1" i="0" dirty="0" err="1">
                <a:solidFill>
                  <a:srgbClr val="4B5938"/>
                </a:solidFill>
                <a:latin typeface="Aptos"/>
              </a:rPr>
              <a:t>saúde</a:t>
            </a:r>
            <a:r>
              <a:rPr sz="3000" b="1" i="0" dirty="0">
                <a:solidFill>
                  <a:srgbClr val="4B5938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4B5938"/>
                </a:solidFill>
                <a:latin typeface="Aptos"/>
              </a:rPr>
              <a:t>integrativa</a:t>
            </a:r>
            <a:r>
              <a:rPr sz="3000" b="1" i="0" dirty="0">
                <a:solidFill>
                  <a:srgbClr val="4B5938"/>
                </a:solidFill>
                <a:latin typeface="Aptos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44752"/>
            <a:ext cx="987552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 dirty="0">
                <a:solidFill>
                  <a:srgbClr val="696F5D"/>
                </a:solidFill>
                <a:latin typeface="Aptos"/>
              </a:rPr>
              <a:t>É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olhar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para a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pessoa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como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um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todo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—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sem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substituir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o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cuidado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médico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baseado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em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evidências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79776"/>
            <a:ext cx="47548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779776"/>
            <a:ext cx="47548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074920"/>
            <a:ext cx="10789920" cy="731520"/>
          </a:xfrm>
          <a:prstGeom prst="roundRect">
            <a:avLst/>
          </a:prstGeom>
          <a:solidFill>
            <a:srgbClr val="E7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276088"/>
            <a:ext cx="102870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1" i="0">
                <a:solidFill>
                  <a:srgbClr val="4B5938"/>
                </a:solidFill>
                <a:latin typeface="Aptos"/>
              </a:rPr>
              <a:t>Integrar não é fazer tudo: é escolher, junto com profissionais de saúde, o que faz sentido e é seguro para você.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 i="0">
                <a:solidFill>
                  <a:srgbClr val="4B5938"/>
                </a:solidFill>
                <a:latin typeface="Aptos"/>
              </a:rPr>
              <a:t>GRAZIELA PINHEIRO  •  ENFERMEIRA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685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 i="0">
                <a:solidFill>
                  <a:srgbClr val="696F5D"/>
                </a:solidFill>
                <a:latin typeface="Aptos"/>
              </a:rPr>
              <a:t>02  /  05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B34F795-3CA8-D7FF-B067-4EEFD78FF762}"/>
              </a:ext>
            </a:extLst>
          </p:cNvPr>
          <p:cNvSpPr txBox="1"/>
          <p:nvPr/>
        </p:nvSpPr>
        <p:spPr>
          <a:xfrm>
            <a:off x="502920" y="1984248"/>
            <a:ext cx="109270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solidFill>
                  <a:schemeClr val="accent3">
                    <a:lumMod val="50000"/>
                  </a:schemeClr>
                </a:solidFill>
              </a:rPr>
              <a:t>Considerando não apenas o corpo físico, mas também as emoções, o estilo de vida e o ambiente em </a:t>
            </a:r>
          </a:p>
          <a:p>
            <a:pPr algn="just"/>
            <a:r>
              <a:rPr lang="pt-BR" sz="2000" dirty="0">
                <a:solidFill>
                  <a:schemeClr val="accent3">
                    <a:lumMod val="50000"/>
                  </a:schemeClr>
                </a:solidFill>
              </a:rPr>
              <a:t>que ela vive.</a:t>
            </a:r>
          </a:p>
          <a:p>
            <a:pPr algn="just"/>
            <a:endParaRPr lang="pt-BR" sz="2000" dirty="0">
              <a:solidFill>
                <a:schemeClr val="accent3">
                  <a:lumMod val="50000"/>
                </a:schemeClr>
              </a:solidFill>
            </a:endParaRPr>
          </a:p>
          <a:p>
            <a:pPr algn="just"/>
            <a:r>
              <a:rPr lang="pt-BR" sz="2000" dirty="0">
                <a:solidFill>
                  <a:schemeClr val="accent3">
                    <a:lumMod val="50000"/>
                  </a:schemeClr>
                </a:solidFill>
              </a:rPr>
              <a:t>O objetivo é promover saúde, prevenir doenças e melhorar a qualidade de vida, associando hábitos </a:t>
            </a:r>
          </a:p>
          <a:p>
            <a:pPr algn="just"/>
            <a:r>
              <a:rPr lang="pt-BR" sz="2000" dirty="0">
                <a:solidFill>
                  <a:schemeClr val="accent3">
                    <a:lumMod val="50000"/>
                  </a:schemeClr>
                </a:solidFill>
              </a:rPr>
              <a:t>saudáveis ao acompanhamento profissional e aos tratamentos convencionais quando necessários.</a:t>
            </a:r>
          </a:p>
          <a:p>
            <a:pPr algn="just"/>
            <a:endParaRPr lang="pt-BR" sz="2000" dirty="0">
              <a:solidFill>
                <a:schemeClr val="accent3">
                  <a:lumMod val="50000"/>
                </a:schemeClr>
              </a:solidFill>
            </a:endParaRPr>
          </a:p>
          <a:p>
            <a:pPr algn="just"/>
            <a:endParaRPr lang="pt-BR" sz="2000" dirty="0">
              <a:solidFill>
                <a:schemeClr val="accent3">
                  <a:lumMod val="50000"/>
                </a:schemeClr>
              </a:solidFill>
            </a:endParaRPr>
          </a:p>
          <a:p>
            <a:pPr algn="just"/>
            <a:r>
              <a:rPr lang="pt-BR" sz="2000" dirty="0">
                <a:solidFill>
                  <a:schemeClr val="accent3">
                    <a:lumMod val="50000"/>
                  </a:schemeClr>
                </a:solidFill>
              </a:rPr>
              <a:t>Por exemplo: uma mulher que sente cansaço constante precisa de mais do que simplesmente tentar ter disposição. É importante avaliar seu sono, alimentação, saúde emocional e possíveis causas clínicas.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8ACA0B8A-B052-2C31-A720-BB43DC84D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091" y="64631"/>
            <a:ext cx="6721909" cy="66104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8572" y="238602"/>
            <a:ext cx="363170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 dirty="0">
                <a:solidFill>
                  <a:srgbClr val="9AA087"/>
                </a:solidFill>
                <a:latin typeface="Aptos"/>
              </a:rPr>
              <a:t>PEQUENOS CUIDADOS, IMPACTO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180" y="576168"/>
            <a:ext cx="98755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 i="0" dirty="0">
                <a:solidFill>
                  <a:srgbClr val="4B5938"/>
                </a:solidFill>
                <a:latin typeface="Aptos"/>
              </a:rPr>
              <a:t>Cinco </a:t>
            </a:r>
            <a:r>
              <a:rPr sz="3000" b="1" i="0" dirty="0" err="1">
                <a:solidFill>
                  <a:srgbClr val="4B5938"/>
                </a:solidFill>
                <a:latin typeface="Aptos"/>
              </a:rPr>
              <a:t>pilares</a:t>
            </a:r>
            <a:r>
              <a:rPr sz="3000" b="1" i="0" dirty="0">
                <a:solidFill>
                  <a:srgbClr val="4B5938"/>
                </a:solidFill>
                <a:latin typeface="Aptos"/>
              </a:rPr>
              <a:t> do </a:t>
            </a:r>
            <a:r>
              <a:rPr sz="3000" b="1" i="0" dirty="0" err="1">
                <a:solidFill>
                  <a:srgbClr val="4B5938"/>
                </a:solidFill>
                <a:latin typeface="Aptos"/>
              </a:rPr>
              <a:t>autocuidado</a:t>
            </a:r>
            <a:endParaRPr sz="3000" b="1" i="0" dirty="0">
              <a:solidFill>
                <a:srgbClr val="4B5938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4789" y="1078811"/>
            <a:ext cx="987552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 dirty="0" err="1">
                <a:solidFill>
                  <a:srgbClr val="696F5D"/>
                </a:solidFill>
                <a:latin typeface="Aptos"/>
              </a:rPr>
              <a:t>Comece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pelo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possível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.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Consistência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vale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mais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do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que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96F5D"/>
                </a:solidFill>
                <a:latin typeface="Aptos"/>
              </a:rPr>
              <a:t>perfeição</a:t>
            </a:r>
            <a:r>
              <a:rPr sz="1500" b="0" i="0" dirty="0">
                <a:solidFill>
                  <a:srgbClr val="696F5D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971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404872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9AA08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" y="2374419"/>
            <a:ext cx="2560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 dirty="0">
                <a:solidFill>
                  <a:srgbClr val="4B5938"/>
                </a:solidFill>
                <a:latin typeface="Aptos"/>
              </a:rPr>
              <a:t>Sono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789" y="2843784"/>
            <a:ext cx="2828531" cy="733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sz="1200" b="0" i="0" dirty="0">
                <a:solidFill>
                  <a:srgbClr val="373D2F"/>
                </a:solidFill>
                <a:latin typeface="Aptos"/>
              </a:rPr>
              <a:t>É durante o sono que o corpo se recupera, </a:t>
            </a:r>
          </a:p>
          <a:p>
            <a:pPr algn="l">
              <a:spcAft>
                <a:spcPts val="700"/>
              </a:spcAft>
            </a:pPr>
            <a:r>
              <a:rPr lang="pt-BR" sz="1200" dirty="0">
                <a:solidFill>
                  <a:srgbClr val="373D2F"/>
                </a:solidFill>
                <a:latin typeface="Aptos"/>
              </a:rPr>
              <a:t>O cérebro processa e o sistema</a:t>
            </a:r>
          </a:p>
          <a:p>
            <a:pPr algn="l">
              <a:spcAft>
                <a:spcPts val="700"/>
              </a:spcAft>
            </a:pPr>
            <a:r>
              <a:rPr lang="pt-BR" sz="1200" dirty="0">
                <a:solidFill>
                  <a:srgbClr val="373D2F"/>
                </a:solidFill>
                <a:latin typeface="Aptos"/>
              </a:rPr>
              <a:t> imunológico se fortalece.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240280"/>
            <a:ext cx="2971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2404872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9AA08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481" y="2346987"/>
            <a:ext cx="2560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 dirty="0" err="1">
                <a:solidFill>
                  <a:srgbClr val="4B5938"/>
                </a:solidFill>
                <a:latin typeface="Aptos"/>
              </a:rPr>
              <a:t>Alimentação</a:t>
            </a:r>
            <a:endParaRPr sz="1700" b="1" i="0" dirty="0">
              <a:solidFill>
                <a:srgbClr val="4B593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47824" y="2849907"/>
            <a:ext cx="2733184" cy="733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sz="1200" b="0" i="0" dirty="0">
                <a:solidFill>
                  <a:srgbClr val="373D2F"/>
                </a:solidFill>
                <a:latin typeface="Aptos"/>
              </a:rPr>
              <a:t>Nutrientes de qualidade são combustível</a:t>
            </a:r>
          </a:p>
          <a:p>
            <a:pPr algn="l">
              <a:spcAft>
                <a:spcPts val="700"/>
              </a:spcAft>
            </a:pPr>
            <a:r>
              <a:rPr lang="pt-BR" sz="1200" dirty="0">
                <a:solidFill>
                  <a:srgbClr val="373D2F"/>
                </a:solidFill>
                <a:latin typeface="Aptos"/>
              </a:rPr>
              <a:t>para o seu corpo, sua mente e seus </a:t>
            </a:r>
          </a:p>
          <a:p>
            <a:pPr algn="l">
              <a:spcAft>
                <a:spcPts val="700"/>
              </a:spcAft>
            </a:pPr>
            <a:r>
              <a:rPr lang="pt-BR" sz="1200" b="0" i="0" dirty="0">
                <a:solidFill>
                  <a:srgbClr val="373D2F"/>
                </a:solidFill>
                <a:latin typeface="Aptos"/>
              </a:rPr>
              <a:t>Hormônios.</a:t>
            </a:r>
            <a:endParaRPr sz="1200" b="0" i="0" dirty="0">
              <a:solidFill>
                <a:srgbClr val="373D2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589520" y="2240280"/>
            <a:ext cx="2971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2404872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9AA08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2346987"/>
            <a:ext cx="2560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 dirty="0" err="1">
                <a:solidFill>
                  <a:srgbClr val="4B5938"/>
                </a:solidFill>
                <a:latin typeface="Aptos"/>
              </a:rPr>
              <a:t>Movimento</a:t>
            </a:r>
            <a:endParaRPr sz="1700" b="1" i="0" dirty="0">
              <a:solidFill>
                <a:srgbClr val="4B593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90688" y="2916936"/>
            <a:ext cx="2670048" cy="45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sz="1200" b="0" i="0" dirty="0">
                <a:solidFill>
                  <a:srgbClr val="373D2F"/>
                </a:solidFill>
                <a:latin typeface="Aptos"/>
              </a:rPr>
              <a:t>Ativa o metabolismo, melhora o humor, </a:t>
            </a:r>
          </a:p>
          <a:p>
            <a:pPr algn="l">
              <a:spcAft>
                <a:spcPts val="700"/>
              </a:spcAft>
            </a:pPr>
            <a:r>
              <a:rPr lang="pt-BR" sz="1200" dirty="0">
                <a:solidFill>
                  <a:srgbClr val="373D2F"/>
                </a:solidFill>
                <a:latin typeface="Aptos"/>
              </a:rPr>
              <a:t>fortalece os ossos e o coração.</a:t>
            </a:r>
            <a:endParaRPr sz="1200" b="0" i="0" dirty="0">
              <a:solidFill>
                <a:srgbClr val="373D2F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23160" y="4160520"/>
            <a:ext cx="2971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24328" y="4325112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9AA087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4972" y="4270695"/>
            <a:ext cx="2560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 dirty="0" err="1">
                <a:solidFill>
                  <a:srgbClr val="4B5938"/>
                </a:solidFill>
                <a:latin typeface="Aptos"/>
              </a:rPr>
              <a:t>Saúde</a:t>
            </a:r>
            <a:r>
              <a:rPr sz="1700" b="1" i="0" dirty="0">
                <a:solidFill>
                  <a:srgbClr val="4B5938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4B5938"/>
                </a:solidFill>
                <a:latin typeface="Aptos"/>
              </a:rPr>
              <a:t>emocional</a:t>
            </a:r>
            <a:endParaRPr sz="1700" b="1" i="0" dirty="0">
              <a:solidFill>
                <a:srgbClr val="4B5938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24328" y="4586716"/>
            <a:ext cx="245894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 dirty="0" err="1">
                <a:solidFill>
                  <a:srgbClr val="373D2F"/>
                </a:solidFill>
                <a:latin typeface="Aptos"/>
              </a:rPr>
              <a:t>Faça</a:t>
            </a:r>
            <a:r>
              <a:rPr sz="1200" b="0" i="0" dirty="0">
                <a:solidFill>
                  <a:srgbClr val="373D2F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373D2F"/>
                </a:solidFill>
                <a:latin typeface="Aptos"/>
              </a:rPr>
              <a:t>pausas</a:t>
            </a:r>
            <a:r>
              <a:rPr sz="1200" b="0" i="0" dirty="0">
                <a:solidFill>
                  <a:srgbClr val="373D2F"/>
                </a:solidFill>
                <a:latin typeface="Aptos"/>
              </a:rPr>
              <a:t>, </a:t>
            </a:r>
            <a:r>
              <a:rPr sz="1200" b="0" i="0" dirty="0" err="1">
                <a:solidFill>
                  <a:srgbClr val="373D2F"/>
                </a:solidFill>
                <a:latin typeface="Aptos"/>
              </a:rPr>
              <a:t>peça</a:t>
            </a:r>
            <a:r>
              <a:rPr sz="1200" b="0" i="0" dirty="0">
                <a:solidFill>
                  <a:srgbClr val="373D2F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373D2F"/>
                </a:solidFill>
                <a:latin typeface="Aptos"/>
              </a:rPr>
              <a:t>apoio</a:t>
            </a:r>
            <a:r>
              <a:rPr sz="1200" b="0" i="0" dirty="0">
                <a:solidFill>
                  <a:srgbClr val="373D2F"/>
                </a:solidFill>
                <a:latin typeface="Aptos"/>
              </a:rPr>
              <a:t> e </a:t>
            </a:r>
            <a:r>
              <a:rPr sz="1200" b="0" i="0" dirty="0" err="1">
                <a:solidFill>
                  <a:srgbClr val="373D2F"/>
                </a:solidFill>
                <a:latin typeface="Aptos"/>
              </a:rPr>
              <a:t>respeite</a:t>
            </a:r>
            <a:r>
              <a:rPr sz="1200" b="0" i="0" dirty="0">
                <a:solidFill>
                  <a:srgbClr val="373D2F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373D2F"/>
                </a:solidFill>
                <a:latin typeface="Aptos"/>
              </a:rPr>
              <a:t>seus</a:t>
            </a:r>
            <a:r>
              <a:rPr sz="1200" b="0" i="0" dirty="0">
                <a:solidFill>
                  <a:srgbClr val="373D2F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373D2F"/>
                </a:solidFill>
                <a:latin typeface="Aptos"/>
              </a:rPr>
              <a:t>limites</a:t>
            </a:r>
            <a:r>
              <a:rPr sz="1200" b="0" i="0" dirty="0">
                <a:solidFill>
                  <a:srgbClr val="373D2F"/>
                </a:solidFill>
                <a:latin typeface="Aptos"/>
              </a:rPr>
              <a:t>.</a:t>
            </a:r>
            <a:r>
              <a:rPr lang="pt-BR" sz="1200" b="0" i="0" dirty="0">
                <a:solidFill>
                  <a:srgbClr val="373D2F"/>
                </a:solidFill>
                <a:latin typeface="Aptos"/>
              </a:rPr>
              <a:t> Equilíbrio emocional também é </a:t>
            </a:r>
            <a:r>
              <a:rPr lang="pt-BR" sz="1200" dirty="0">
                <a:solidFill>
                  <a:srgbClr val="373D2F"/>
                </a:solidFill>
                <a:latin typeface="Aptos"/>
              </a:rPr>
              <a:t>saúde. Sentir e acolher suas emoções faz t</a:t>
            </a:r>
            <a:r>
              <a:rPr lang="pt-BR" sz="1200" b="0" i="0" dirty="0">
                <a:solidFill>
                  <a:srgbClr val="373D2F"/>
                </a:solidFill>
                <a:latin typeface="Aptos"/>
              </a:rPr>
              <a:t>oda a diferença.</a:t>
            </a:r>
            <a:endParaRPr sz="1200" b="0" i="0" dirty="0">
              <a:solidFill>
                <a:srgbClr val="373D2F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89320" y="4160520"/>
            <a:ext cx="2971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0488" y="4325112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9AA087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270694"/>
            <a:ext cx="2560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 dirty="0" err="1">
                <a:solidFill>
                  <a:srgbClr val="4B5938"/>
                </a:solidFill>
                <a:latin typeface="Aptos"/>
              </a:rPr>
              <a:t>Prevenção</a:t>
            </a:r>
            <a:endParaRPr sz="1700" b="1" i="0" dirty="0">
              <a:solidFill>
                <a:srgbClr val="4B593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81930" y="4673476"/>
            <a:ext cx="2919902" cy="733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sz="1200" dirty="0">
                <a:solidFill>
                  <a:srgbClr val="373D2F"/>
                </a:solidFill>
                <a:latin typeface="Aptos"/>
              </a:rPr>
              <a:t>Exames, acompanhamento profissional e </a:t>
            </a:r>
          </a:p>
          <a:p>
            <a:pPr algn="l">
              <a:spcAft>
                <a:spcPts val="700"/>
              </a:spcAft>
            </a:pPr>
            <a:r>
              <a:rPr lang="pt-BR" sz="1200" b="0" i="0" dirty="0">
                <a:solidFill>
                  <a:srgbClr val="373D2F"/>
                </a:solidFill>
                <a:latin typeface="Aptos"/>
              </a:rPr>
              <a:t>Hábitos saudáveis ajudam a evitar doenças </a:t>
            </a:r>
            <a:endParaRPr lang="pt-BR" sz="1200" dirty="0">
              <a:solidFill>
                <a:srgbClr val="373D2F"/>
              </a:solidFill>
              <a:latin typeface="Aptos"/>
            </a:endParaRPr>
          </a:p>
          <a:p>
            <a:pPr algn="l">
              <a:spcAft>
                <a:spcPts val="700"/>
              </a:spcAft>
            </a:pPr>
            <a:r>
              <a:rPr lang="pt-BR" sz="1200" b="0" i="0" dirty="0">
                <a:solidFill>
                  <a:srgbClr val="373D2F"/>
                </a:solidFill>
                <a:latin typeface="Aptos"/>
              </a:rPr>
              <a:t>e manter sua qualidade de vida.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 i="0" dirty="0">
                <a:solidFill>
                  <a:srgbClr val="4B5938"/>
                </a:solidFill>
                <a:latin typeface="Aptos"/>
              </a:rPr>
              <a:t>GRAZIELA PINHEIRO  •  ENFERMEIRA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6858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 i="0">
                <a:solidFill>
                  <a:srgbClr val="696F5D"/>
                </a:solidFill>
                <a:latin typeface="Aptos"/>
              </a:rPr>
              <a:t>04  /  05</a:t>
            </a: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C576D8A6-D577-3198-8F7C-70F0D50A842F}"/>
              </a:ext>
            </a:extLst>
          </p:cNvPr>
          <p:cNvSpPr txBox="1"/>
          <p:nvPr/>
        </p:nvSpPr>
        <p:spPr>
          <a:xfrm>
            <a:off x="1328108" y="5939544"/>
            <a:ext cx="932242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b="1" i="0" dirty="0">
                <a:solidFill>
                  <a:srgbClr val="696F5D"/>
                </a:solidFill>
                <a:latin typeface="Aptos"/>
              </a:rPr>
              <a:t>Pequenas escolhas diárias fazem uma grande diferença na sua saúde e no seu bem-estar.</a:t>
            </a:r>
            <a:endParaRPr b="1" i="0" dirty="0">
              <a:solidFill>
                <a:srgbClr val="696F5D"/>
              </a:solidFill>
              <a:latin typeface="Aptos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F7830F8B-C4BC-B9E1-32D6-4B995BBA3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048" y="1325881"/>
            <a:ext cx="715547" cy="727026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85A33852-95DA-AB3B-C8D6-FC8987AB2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964" y="1350736"/>
            <a:ext cx="711958" cy="727026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E8B1EC36-2267-394A-DFEC-20C0546C8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0291" y="1317575"/>
            <a:ext cx="714599" cy="741638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CA6844FF-F9DF-5488-873A-95611CF77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7272" y="1331732"/>
            <a:ext cx="683454" cy="716525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297EF173-5121-8FC4-EE43-DE09CCBD9A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1148" y="1319395"/>
            <a:ext cx="788140" cy="747514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E48F775D-F8DA-0475-3233-AAC5CE31B4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88" y="1339754"/>
            <a:ext cx="788140" cy="7554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5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9AA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07DA00CB-E8CD-D0F8-7512-63E043BE907E}"/>
              </a:ext>
            </a:extLst>
          </p:cNvPr>
          <p:cNvSpPr txBox="1"/>
          <p:nvPr/>
        </p:nvSpPr>
        <p:spPr>
          <a:xfrm>
            <a:off x="557784" y="295308"/>
            <a:ext cx="6682002" cy="1043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sz="3100" b="1" i="0" dirty="0">
                <a:solidFill>
                  <a:schemeClr val="bg1"/>
                </a:solidFill>
                <a:latin typeface="Aptos"/>
              </a:rPr>
              <a:t>MEDICINA </a:t>
            </a:r>
          </a:p>
          <a:p>
            <a:pPr algn="l">
              <a:spcAft>
                <a:spcPts val="700"/>
              </a:spcAft>
            </a:pPr>
            <a:r>
              <a:rPr lang="pt-BR" sz="3100" b="1" i="0" dirty="0">
                <a:solidFill>
                  <a:schemeClr val="bg1"/>
                </a:solidFill>
                <a:latin typeface="Aptos"/>
              </a:rPr>
              <a:t>ORTOMOLECULAR</a:t>
            </a:r>
            <a:endParaRPr sz="3100" b="1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7553FAB4-4D7E-AE93-33BC-F6D8B6EB6D7F}"/>
              </a:ext>
            </a:extLst>
          </p:cNvPr>
          <p:cNvSpPr txBox="1"/>
          <p:nvPr/>
        </p:nvSpPr>
        <p:spPr>
          <a:xfrm>
            <a:off x="307426" y="1449018"/>
            <a:ext cx="7650749" cy="2477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just">
              <a:spcAft>
                <a:spcPts val="700"/>
              </a:spcAft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Funcionamento do organismo depende de um equilíbrio adequado de nutrientes </a:t>
            </a:r>
          </a:p>
          <a:p>
            <a:pPr algn="just">
              <a:spcAft>
                <a:spcPts val="700"/>
              </a:spcAft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e de outras substâncias essenciais.</a:t>
            </a:r>
          </a:p>
          <a:p>
            <a:pPr algn="just">
              <a:spcAft>
                <a:spcPts val="700"/>
              </a:spcAft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Ortomolecular busca promover a saúde por meio do equilíbrio de nutrientes e de</a:t>
            </a:r>
          </a:p>
          <a:p>
            <a:pPr algn="just">
              <a:spcAft>
                <a:spcPts val="700"/>
              </a:spcAft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 substâncias presentes no organismo (biodisponíveis), como vitaminas, minerais,</a:t>
            </a:r>
          </a:p>
          <a:p>
            <a:pPr algn="just">
              <a:spcAft>
                <a:spcPts val="700"/>
              </a:spcAft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 aminoácidos e antioxidantes. </a:t>
            </a:r>
          </a:p>
          <a:p>
            <a:pPr algn="just">
              <a:spcAft>
                <a:spcPts val="700"/>
              </a:spcAft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Ela costuma envolver alimentação, avaliação nutricional e, em </a:t>
            </a:r>
          </a:p>
          <a:p>
            <a:pPr algn="just">
              <a:spcAft>
                <a:spcPts val="700"/>
              </a:spcAft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alguns casos, suplementação</a:t>
            </a:r>
            <a:endParaRPr sz="1500" b="0" i="0" dirty="0">
              <a:solidFill>
                <a:schemeClr val="bg2">
                  <a:lumMod val="75000"/>
                </a:schemeClr>
              </a:solidFill>
              <a:latin typeface="Aptos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695735F8-4D48-2906-BC21-0EFC4AA09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740" y="0"/>
            <a:ext cx="4116260" cy="6858000"/>
          </a:xfrm>
          <a:prstGeom prst="rect">
            <a:avLst/>
          </a:prstGeom>
        </p:spPr>
      </p:pic>
      <p:sp>
        <p:nvSpPr>
          <p:cNvPr id="27" name="TextBox 3">
            <a:extLst>
              <a:ext uri="{FF2B5EF4-FFF2-40B4-BE49-F238E27FC236}">
                <a16:creationId xmlns:a16="http://schemas.microsoft.com/office/drawing/2014/main" id="{12E0CBF8-A526-2BF1-CECA-87ABB6E47013}"/>
              </a:ext>
            </a:extLst>
          </p:cNvPr>
          <p:cNvSpPr txBox="1"/>
          <p:nvPr/>
        </p:nvSpPr>
        <p:spPr>
          <a:xfrm>
            <a:off x="307426" y="4040296"/>
            <a:ext cx="7415620" cy="19389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A proposta é favorecer a saúde por meio da manutenção de concentrações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apropriadas de substâncias presentes no organismo, como:</a:t>
            </a:r>
          </a:p>
          <a:p>
            <a:endParaRPr lang="pt-BR" dirty="0">
              <a:solidFill>
                <a:schemeClr val="bg2">
                  <a:lumMod val="75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Vitaminas, como A, C, D, E </a:t>
            </a:r>
            <a:r>
              <a:rPr lang="pt-BR" dirty="0" err="1">
                <a:solidFill>
                  <a:schemeClr val="bg2">
                    <a:lumMod val="75000"/>
                  </a:schemeClr>
                </a:solidFill>
              </a:rPr>
              <a:t>e</a:t>
            </a: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 as do complexo B.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Minerais, como ferro, zinco, magnésio e selênio.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Aminoácidos, necessários à síntese de proteínas.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Outros compostos envolvidos no metabolismo e nos sistemas antioxidantes.</a:t>
            </a: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9BA61799-E784-5B58-E66F-4AB233D948E1}"/>
              </a:ext>
            </a:extLst>
          </p:cNvPr>
          <p:cNvSpPr txBox="1"/>
          <p:nvPr/>
        </p:nvSpPr>
        <p:spPr>
          <a:xfrm>
            <a:off x="502920" y="6510528"/>
            <a:ext cx="191879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 i="0" dirty="0">
                <a:solidFill>
                  <a:schemeClr val="bg2"/>
                </a:solidFill>
                <a:latin typeface="Aptos"/>
              </a:rPr>
              <a:t>GRAZIELA PINHEIRO  •  ENFERMEIRA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59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60EEE-9402-12A6-346F-E97568F7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3CCD736-D06A-EC39-37FE-3FE1B7C485BA}"/>
              </a:ext>
            </a:extLst>
          </p:cNvPr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9AA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8AB7242C-7DDC-BC18-B4CA-4D926E0F136E}"/>
              </a:ext>
            </a:extLst>
          </p:cNvPr>
          <p:cNvSpPr txBox="1"/>
          <p:nvPr/>
        </p:nvSpPr>
        <p:spPr>
          <a:xfrm>
            <a:off x="363480" y="748599"/>
            <a:ext cx="5632311" cy="4985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pt-BR" b="1" dirty="0">
                <a:solidFill>
                  <a:schemeClr val="bg2">
                    <a:lumMod val="75000"/>
                  </a:schemeClr>
                </a:solidFill>
              </a:rPr>
              <a:t>Por que suplementar se já temos? (Saturação e Demanda)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Quando você toma um suplemento de algo que já tem,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o objetivo geralmente é </a:t>
            </a:r>
            <a:r>
              <a:rPr lang="pt-BR" b="1" dirty="0">
                <a:solidFill>
                  <a:schemeClr val="bg2">
                    <a:lumMod val="75000"/>
                  </a:schemeClr>
                </a:solidFill>
              </a:rPr>
              <a:t>aumentar o estoque disponível</a:t>
            </a: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ou </a:t>
            </a:r>
            <a:r>
              <a:rPr lang="pt-BR" b="1" dirty="0">
                <a:solidFill>
                  <a:schemeClr val="bg2">
                    <a:lumMod val="75000"/>
                  </a:schemeClr>
                </a:solidFill>
              </a:rPr>
              <a:t>acelerar um processo</a:t>
            </a: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Quando você compra esse suplemento em pó ou cápsula,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ele precisa ser </a:t>
            </a:r>
            <a:r>
              <a:rPr lang="pt-BR" b="1" dirty="0">
                <a:solidFill>
                  <a:schemeClr val="bg2">
                    <a:lumMod val="75000"/>
                  </a:schemeClr>
                </a:solidFill>
              </a:rPr>
              <a:t>biodisponível</a:t>
            </a: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 (</a:t>
            </a:r>
            <a:r>
              <a:rPr lang="pt-BR" dirty="0" err="1">
                <a:solidFill>
                  <a:schemeClr val="bg2">
                    <a:lumMod val="75000"/>
                  </a:schemeClr>
                </a:solidFill>
              </a:rPr>
              <a:t>ex</a:t>
            </a:r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: quelatado) para que o seu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Corpo  realmente consiga somar esse "reforço" ao estoque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que já existia.</a:t>
            </a:r>
          </a:p>
          <a:p>
            <a:endParaRPr lang="pt-BR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Se a forma química do suplemento for ruim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(baixa biodisponibilidade), a suplementação vai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direto para o lixo (fezes/urina) e o nível do seu corpo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continua igual. </a:t>
            </a:r>
          </a:p>
          <a:p>
            <a:endParaRPr lang="pt-BR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Se for ideal, ele entra na corrente sanguínea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 e se junta aos aminoácidos/vitaminas/minerais que </a:t>
            </a:r>
          </a:p>
          <a:p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você já tem.</a:t>
            </a:r>
          </a:p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2F07855-11BA-9C16-A14A-6E1D21E8B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696" y="829459"/>
            <a:ext cx="5801535" cy="5144218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213A70DD-D8D4-ECC1-6F38-EB2E42E1C9F2}"/>
              </a:ext>
            </a:extLst>
          </p:cNvPr>
          <p:cNvSpPr txBox="1"/>
          <p:nvPr/>
        </p:nvSpPr>
        <p:spPr>
          <a:xfrm>
            <a:off x="363480" y="6233454"/>
            <a:ext cx="563987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sz="1400" b="1" i="0" dirty="0">
                <a:solidFill>
                  <a:schemeClr val="bg2"/>
                </a:solidFill>
                <a:latin typeface="Aptos"/>
              </a:rPr>
              <a:t>Procure sempre o acompanhamento e orientação de um profissional.</a:t>
            </a:r>
            <a:endParaRPr sz="1400" b="1" i="0" dirty="0">
              <a:solidFill>
                <a:srgbClr val="696F5D"/>
              </a:solidFill>
              <a:latin typeface="Aptos"/>
            </a:endParaRPr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832B3251-FBD6-F718-A008-43CAC803C1E8}"/>
              </a:ext>
            </a:extLst>
          </p:cNvPr>
          <p:cNvSpPr txBox="1"/>
          <p:nvPr/>
        </p:nvSpPr>
        <p:spPr>
          <a:xfrm>
            <a:off x="502920" y="6510528"/>
            <a:ext cx="191879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 i="0" dirty="0">
                <a:solidFill>
                  <a:schemeClr val="bg2"/>
                </a:solidFill>
                <a:latin typeface="Aptos"/>
              </a:rPr>
              <a:t>GRAZIELA PINHEIRO  •  ENFERMEIRA</a:t>
            </a:r>
          </a:p>
        </p:txBody>
      </p:sp>
    </p:spTree>
    <p:extLst>
      <p:ext uri="{BB962C8B-B14F-4D97-AF65-F5344CB8AC3E}">
        <p14:creationId xmlns:p14="http://schemas.microsoft.com/office/powerpoint/2010/main" val="366371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A8E64-5213-AE15-6B0E-8277B99D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C858A2-9C44-E92D-084F-EECE6B89FCDC}"/>
              </a:ext>
            </a:extLst>
          </p:cNvPr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4B59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9CBD7-2E7C-05C3-50BC-918046AC260A}"/>
              </a:ext>
            </a:extLst>
          </p:cNvPr>
          <p:cNvSpPr txBox="1"/>
          <p:nvPr/>
        </p:nvSpPr>
        <p:spPr>
          <a:xfrm>
            <a:off x="8979408" y="6263640"/>
            <a:ext cx="2743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900" b="1" i="0">
                <a:solidFill>
                  <a:srgbClr val="F8F6EF"/>
                </a:solidFill>
                <a:latin typeface="Aptos"/>
              </a:rPr>
              <a:t>CIÊNCIA  •  ESCUTA  •  CUIDADO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8086C06-1218-825A-BAA8-139D09794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863" y="0"/>
            <a:ext cx="3870356" cy="6858000"/>
          </a:xfrm>
          <a:prstGeom prst="rect">
            <a:avLst/>
          </a:prstGeom>
        </p:spPr>
      </p:pic>
      <p:sp>
        <p:nvSpPr>
          <p:cNvPr id="14" name="TextBox 1">
            <a:extLst>
              <a:ext uri="{FF2B5EF4-FFF2-40B4-BE49-F238E27FC236}">
                <a16:creationId xmlns:a16="http://schemas.microsoft.com/office/drawing/2014/main" id="{9A99B1CA-10B8-36E8-B658-9BF9D5A8AA61}"/>
              </a:ext>
            </a:extLst>
          </p:cNvPr>
          <p:cNvSpPr txBox="1"/>
          <p:nvPr/>
        </p:nvSpPr>
        <p:spPr>
          <a:xfrm>
            <a:off x="512064" y="355071"/>
            <a:ext cx="242598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i="0" dirty="0">
                <a:solidFill>
                  <a:srgbClr val="9AA087"/>
                </a:solidFill>
                <a:latin typeface="Aptos"/>
              </a:rPr>
              <a:t>SEU PRÓXIMO PASSO</a:t>
            </a: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3EF7204E-287A-A97D-40A4-8822547762DB}"/>
              </a:ext>
            </a:extLst>
          </p:cNvPr>
          <p:cNvSpPr txBox="1"/>
          <p:nvPr/>
        </p:nvSpPr>
        <p:spPr>
          <a:xfrm>
            <a:off x="777240" y="1143000"/>
            <a:ext cx="4681728" cy="1043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1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Escolha</a:t>
            </a:r>
            <a:r>
              <a:rPr sz="31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um </a:t>
            </a:r>
            <a:r>
              <a:rPr sz="31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cuidado</a:t>
            </a:r>
            <a:endParaRPr sz="3100" b="1" i="0" dirty="0">
              <a:solidFill>
                <a:schemeClr val="accent3">
                  <a:lumMod val="50000"/>
                </a:schemeClr>
              </a:solidFill>
              <a:latin typeface="Aptos"/>
            </a:endParaRPr>
          </a:p>
          <a:p>
            <a:pPr algn="l">
              <a:spcAft>
                <a:spcPts val="700"/>
              </a:spcAft>
            </a:pPr>
            <a:r>
              <a:rPr sz="31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para </a:t>
            </a:r>
            <a:r>
              <a:rPr sz="31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começar</a:t>
            </a:r>
            <a:r>
              <a:rPr sz="31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31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hoje</a:t>
            </a:r>
            <a:r>
              <a:rPr sz="31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53E0E1F2-BE17-9D0B-0F44-C08FEC2683AE}"/>
              </a:ext>
            </a:extLst>
          </p:cNvPr>
          <p:cNvSpPr txBox="1"/>
          <p:nvPr/>
        </p:nvSpPr>
        <p:spPr>
          <a:xfrm>
            <a:off x="825273" y="2310490"/>
            <a:ext cx="3838167" cy="292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0" i="0">
                <a:solidFill>
                  <a:schemeClr val="accent3">
                    <a:lumMod val="50000"/>
                  </a:schemeClr>
                </a:solidFill>
                <a:latin typeface="Aptos"/>
              </a:rPr>
              <a:t>Não precisa mudar tudo de uma vez.</a:t>
            </a:r>
          </a:p>
        </p:txBody>
      </p:sp>
      <p:sp>
        <p:nvSpPr>
          <p:cNvPr id="22" name="Oval 4">
            <a:extLst>
              <a:ext uri="{FF2B5EF4-FFF2-40B4-BE49-F238E27FC236}">
                <a16:creationId xmlns:a16="http://schemas.microsoft.com/office/drawing/2014/main" id="{3BAB54D3-C4F6-196C-5D9A-3ADFF138A2D3}"/>
              </a:ext>
            </a:extLst>
          </p:cNvPr>
          <p:cNvSpPr/>
          <p:nvPr/>
        </p:nvSpPr>
        <p:spPr>
          <a:xfrm>
            <a:off x="861849" y="3060298"/>
            <a:ext cx="256032" cy="256032"/>
          </a:xfrm>
          <a:prstGeom prst="ellipse">
            <a:avLst/>
          </a:prstGeom>
          <a:solidFill>
            <a:srgbClr val="9AA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45D1A29B-5B03-E526-A1FB-32947DA6B8AE}"/>
              </a:ext>
            </a:extLst>
          </p:cNvPr>
          <p:cNvSpPr txBox="1"/>
          <p:nvPr/>
        </p:nvSpPr>
        <p:spPr>
          <a:xfrm>
            <a:off x="1319049" y="3042010"/>
            <a:ext cx="209038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Vou </a:t>
            </a:r>
            <a:r>
              <a:rPr sz="160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priorizar</a:t>
            </a: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meu </a:t>
            </a:r>
            <a:r>
              <a:rPr sz="160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sono</a:t>
            </a: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26" name="Oval 6">
            <a:extLst>
              <a:ext uri="{FF2B5EF4-FFF2-40B4-BE49-F238E27FC236}">
                <a16:creationId xmlns:a16="http://schemas.microsoft.com/office/drawing/2014/main" id="{675A12F8-E0A9-BFD3-295A-A8014D511347}"/>
              </a:ext>
            </a:extLst>
          </p:cNvPr>
          <p:cNvSpPr/>
          <p:nvPr/>
        </p:nvSpPr>
        <p:spPr>
          <a:xfrm>
            <a:off x="861849" y="3627225"/>
            <a:ext cx="256032" cy="256032"/>
          </a:xfrm>
          <a:prstGeom prst="ellipse">
            <a:avLst/>
          </a:prstGeom>
          <a:solidFill>
            <a:srgbClr val="9AA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DCCD8EF4-875B-AB39-E431-643DA0E23FDF}"/>
              </a:ext>
            </a:extLst>
          </p:cNvPr>
          <p:cNvSpPr txBox="1"/>
          <p:nvPr/>
        </p:nvSpPr>
        <p:spPr>
          <a:xfrm>
            <a:off x="1319049" y="3608938"/>
            <a:ext cx="504349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chemeClr val="accent3">
                    <a:lumMod val="50000"/>
                  </a:schemeClr>
                </a:solidFill>
                <a:latin typeface="Aptos"/>
              </a:rPr>
              <a:t>Vou reservar 10 minutos para me movimentar ou respirar.</a:t>
            </a:r>
          </a:p>
        </p:txBody>
      </p:sp>
      <p:sp>
        <p:nvSpPr>
          <p:cNvPr id="30" name="Oval 8">
            <a:extLst>
              <a:ext uri="{FF2B5EF4-FFF2-40B4-BE49-F238E27FC236}">
                <a16:creationId xmlns:a16="http://schemas.microsoft.com/office/drawing/2014/main" id="{6CACFA81-B144-7D5A-4C1F-C7EECAF8C222}"/>
              </a:ext>
            </a:extLst>
          </p:cNvPr>
          <p:cNvSpPr/>
          <p:nvPr/>
        </p:nvSpPr>
        <p:spPr>
          <a:xfrm>
            <a:off x="861849" y="4194154"/>
            <a:ext cx="256032" cy="256032"/>
          </a:xfrm>
          <a:prstGeom prst="ellipse">
            <a:avLst/>
          </a:prstGeom>
          <a:solidFill>
            <a:srgbClr val="9AA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B7B96D1A-8B8A-A73B-3B34-EC4EFF4477FE}"/>
              </a:ext>
            </a:extLst>
          </p:cNvPr>
          <p:cNvSpPr txBox="1"/>
          <p:nvPr/>
        </p:nvSpPr>
        <p:spPr>
          <a:xfrm>
            <a:off x="1319049" y="4175866"/>
            <a:ext cx="530452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Vou </a:t>
            </a:r>
            <a:r>
              <a:rPr sz="160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marcar</a:t>
            </a: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160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uma</a:t>
            </a: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consulta </a:t>
            </a:r>
            <a:r>
              <a:rPr sz="160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ou</a:t>
            </a: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160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retomar</a:t>
            </a: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um </a:t>
            </a:r>
            <a:r>
              <a:rPr sz="160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cuidado</a:t>
            </a: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160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que</a:t>
            </a: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160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adiei</a:t>
            </a:r>
            <a:r>
              <a:rPr sz="160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07A28D8D-DFF6-2C1E-B0A7-9D0D7D6929AD}"/>
              </a:ext>
            </a:extLst>
          </p:cNvPr>
          <p:cNvSpPr txBox="1"/>
          <p:nvPr/>
        </p:nvSpPr>
        <p:spPr>
          <a:xfrm>
            <a:off x="3842793" y="4929629"/>
            <a:ext cx="3620991" cy="7053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Você</a:t>
            </a:r>
            <a:r>
              <a:rPr sz="20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20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também</a:t>
            </a:r>
            <a:r>
              <a:rPr sz="20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20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merece</a:t>
            </a:r>
            <a:endParaRPr sz="2000" b="1" i="0" dirty="0">
              <a:solidFill>
                <a:schemeClr val="accent3">
                  <a:lumMod val="50000"/>
                </a:schemeClr>
              </a:solidFill>
              <a:latin typeface="Aptos"/>
            </a:endParaRPr>
          </a:p>
          <a:p>
            <a:pPr algn="ctr">
              <a:spcAft>
                <a:spcPts val="700"/>
              </a:spcAft>
            </a:pPr>
            <a:r>
              <a:rPr sz="20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receber</a:t>
            </a:r>
            <a:r>
              <a:rPr sz="20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o </a:t>
            </a:r>
            <a:r>
              <a:rPr sz="20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cuidado</a:t>
            </a:r>
            <a:r>
              <a:rPr sz="20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20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que</a:t>
            </a:r>
            <a:r>
              <a:rPr sz="20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20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oferece</a:t>
            </a:r>
            <a:r>
              <a:rPr sz="20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B6DD1803-63DC-8376-33B5-129B203430FB}"/>
              </a:ext>
            </a:extLst>
          </p:cNvPr>
          <p:cNvSpPr txBox="1"/>
          <p:nvPr/>
        </p:nvSpPr>
        <p:spPr>
          <a:xfrm>
            <a:off x="587529" y="5969876"/>
            <a:ext cx="21632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Graziela Pinheiro  •  </a:t>
            </a:r>
            <a:r>
              <a:rPr sz="1200" b="1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Enfermeira</a:t>
            </a:r>
            <a:endParaRPr sz="1200" b="1" i="0" dirty="0">
              <a:solidFill>
                <a:schemeClr val="accent3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56" name="TextBox 14">
            <a:extLst>
              <a:ext uri="{FF2B5EF4-FFF2-40B4-BE49-F238E27FC236}">
                <a16:creationId xmlns:a16="http://schemas.microsoft.com/office/drawing/2014/main" id="{AB975FC0-A3CB-2481-C41B-1121EEFB31C4}"/>
              </a:ext>
            </a:extLst>
          </p:cNvPr>
          <p:cNvSpPr txBox="1"/>
          <p:nvPr/>
        </p:nvSpPr>
        <p:spPr>
          <a:xfrm>
            <a:off x="587529" y="6254496"/>
            <a:ext cx="51873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Material </a:t>
            </a:r>
            <a:r>
              <a:rPr sz="105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educativo</a:t>
            </a:r>
            <a:r>
              <a:rPr sz="105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. Procure </a:t>
            </a:r>
            <a:r>
              <a:rPr sz="105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orientação</a:t>
            </a:r>
            <a:r>
              <a:rPr sz="105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105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individualizada</a:t>
            </a:r>
            <a:r>
              <a:rPr sz="105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para </a:t>
            </a:r>
            <a:r>
              <a:rPr sz="105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suas</a:t>
            </a:r>
            <a:r>
              <a:rPr sz="105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</a:t>
            </a:r>
            <a:r>
              <a:rPr sz="105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necessidades</a:t>
            </a:r>
            <a:r>
              <a:rPr sz="105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 de </a:t>
            </a:r>
            <a:r>
              <a:rPr sz="1050" b="0" i="0" dirty="0" err="1">
                <a:solidFill>
                  <a:schemeClr val="accent3">
                    <a:lumMod val="50000"/>
                  </a:schemeClr>
                </a:solidFill>
                <a:latin typeface="Aptos"/>
              </a:rPr>
              <a:t>saúde</a:t>
            </a:r>
            <a:r>
              <a:rPr sz="1050" b="0" i="0" dirty="0">
                <a:solidFill>
                  <a:schemeClr val="accent3">
                    <a:lumMod val="50000"/>
                  </a:schemeClr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729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5854bba-96ae-43d9-8c0b-ee13caa0c8e3}" enabled="1" method="Standard" siteId="{2a7030a7-3850-453e-96b7-cd5f58ba9ec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826</Words>
  <Application>Microsoft Office PowerPoint</Application>
  <PresentationFormat>Widescreen</PresentationFormat>
  <Paragraphs>118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Graziela Queiroz Pinheiro</dc:creator>
  <cp:keywords/>
  <dc:description>generated using python-pptx</dc:description>
  <cp:lastModifiedBy>Graziela Queiroz Pinheiro</cp:lastModifiedBy>
  <cp:revision>2</cp:revision>
  <dcterms:created xsi:type="dcterms:W3CDTF">2013-01-27T09:14:16Z</dcterms:created>
  <dcterms:modified xsi:type="dcterms:W3CDTF">2026-10-26T18:30:42Z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Restrito</vt:lpwstr>
  </property>
</Properties>
</file>